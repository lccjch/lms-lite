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6858000" cx="12192000"/>
  <p:notesSz cx="6858000" cy="12192000"/>
  <p:embeddedFontLst>
    <p:embeddedFont>
      <p:font typeface="Noto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gTe0iXfc/tb1q8PEK7RY0CwzDU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NotoSans-bold.fntdata"/><Relationship Id="rId10" Type="http://schemas.openxmlformats.org/officeDocument/2006/relationships/slide" Target="slides/slide6.xml"/><Relationship Id="rId32" Type="http://schemas.openxmlformats.org/officeDocument/2006/relationships/font" Target="fonts/NotoSans-regular.fntdata"/><Relationship Id="rId13" Type="http://schemas.openxmlformats.org/officeDocument/2006/relationships/slide" Target="slides/slide9.xml"/><Relationship Id="rId35" Type="http://schemas.openxmlformats.org/officeDocument/2006/relationships/font" Target="fonts/NotoSans-boldItalic.fntdata"/><Relationship Id="rId12" Type="http://schemas.openxmlformats.org/officeDocument/2006/relationships/slide" Target="slides/slide8.xml"/><Relationship Id="rId34" Type="http://schemas.openxmlformats.org/officeDocument/2006/relationships/font" Target="fonts/NotoSans-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36" Type="http://customschemas.google.com/relationships/presentationmetadata" Target="meta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開場：這是一條獨立的 Demo Track，目的不是展示 Full LMS 的所有合規規則，而是讓觀眾看到完整功能閉環。,先說明三種角色都能各自完成工作，再進入 Live Demo。</a:t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h4a7c42c31eba908b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h4a7c42c31eba908b_0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h4a7c42c31eba908b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h4a7c42c31eba908b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h4a7c42c31eba908b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h4a7c42c31eba908b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h4a7c42c31eba908b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h4a7c42c31eba908b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h4a7c42c31eba908b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h4a7c42c31eba908b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h4a7c42c31eba908b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h4a7c42c31eba908b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h4a7c42c31eba908b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h4a7c42c31eba908b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">
  <p:cSld name="LIGHT">
    <p:bg>
      <p:bgPr>
        <a:solidFill>
          <a:srgbClr val="F6F8FB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B942"/>
          </a:solidFill>
          <a:ln cap="flat" cmpd="sng" w="12700">
            <a:solidFill>
              <a:srgbClr val="F4B9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23"/>
          <p:cNvSpPr/>
          <p:nvPr/>
        </p:nvSpPr>
        <p:spPr>
          <a:xfrm>
            <a:off x="502920" y="6510528"/>
            <a:ext cx="4023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8A99"/>
              </a:buClr>
              <a:buSzPts val="800"/>
              <a:buFont typeface="Noto Sans"/>
              <a:buNone/>
            </a:pPr>
            <a:r>
              <a:rPr lang="en-US" sz="800">
                <a:solidFill>
                  <a:srgbClr val="7A8A99"/>
                </a:solidFill>
                <a:latin typeface="Noto Sans"/>
                <a:ea typeface="Noto Sans"/>
                <a:cs typeface="Noto Sans"/>
                <a:sym typeface="Noto Sans"/>
              </a:rPr>
              <a:t>LMS Lite · Functional Demo</a:t>
            </a:r>
            <a:endParaRPr sz="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" name="Google Shape;15;p23"/>
          <p:cNvSpPr/>
          <p:nvPr/>
        </p:nvSpPr>
        <p:spPr>
          <a:xfrm>
            <a:off x="11109960" y="651052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A8A99"/>
              </a:buClr>
              <a:buSzPts val="800"/>
              <a:buFont typeface="Noto Sans"/>
              <a:buNone/>
            </a:pPr>
            <a:r>
              <a:rPr lang="en-US" sz="800">
                <a:solidFill>
                  <a:srgbClr val="7A8A99"/>
                </a:solidFill>
                <a:latin typeface="Noto Sans"/>
                <a:ea typeface="Noto Sans"/>
                <a:cs typeface="Noto Sans"/>
                <a:sym typeface="Noto Sans"/>
              </a:rPr>
              <a:t>10/17</a:t>
            </a:r>
            <a:endParaRPr sz="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" name="Google Shape;16;p23"/>
          <p:cNvSpPr txBox="1"/>
          <p:nvPr>
            <p:ph idx="12" type="sldNum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sz="800">
                <a:solidFill>
                  <a:srgbClr val="7A8A99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algn="l">
              <a:spcBef>
                <a:spcPts val="0"/>
              </a:spcBef>
              <a:buNone/>
              <a:defRPr b="0" sz="800">
                <a:solidFill>
                  <a:srgbClr val="7A8A99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algn="l">
              <a:spcBef>
                <a:spcPts val="0"/>
              </a:spcBef>
              <a:buNone/>
              <a:defRPr b="0" sz="800">
                <a:solidFill>
                  <a:srgbClr val="7A8A99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algn="l">
              <a:spcBef>
                <a:spcPts val="0"/>
              </a:spcBef>
              <a:buNone/>
              <a:defRPr b="0" sz="800">
                <a:solidFill>
                  <a:srgbClr val="7A8A99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algn="l">
              <a:spcBef>
                <a:spcPts val="0"/>
              </a:spcBef>
              <a:buNone/>
              <a:defRPr b="0" sz="800">
                <a:solidFill>
                  <a:srgbClr val="7A8A99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algn="l">
              <a:spcBef>
                <a:spcPts val="0"/>
              </a:spcBef>
              <a:buNone/>
              <a:defRPr b="0" sz="800">
                <a:solidFill>
                  <a:srgbClr val="7A8A99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algn="l">
              <a:spcBef>
                <a:spcPts val="0"/>
              </a:spcBef>
              <a:buNone/>
              <a:defRPr b="0" sz="800">
                <a:solidFill>
                  <a:srgbClr val="7A8A99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algn="l">
              <a:spcBef>
                <a:spcPts val="0"/>
              </a:spcBef>
              <a:buNone/>
              <a:defRPr b="0" sz="800">
                <a:solidFill>
                  <a:srgbClr val="7A8A99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algn="l">
              <a:spcBef>
                <a:spcPts val="0"/>
              </a:spcBef>
              <a:buNone/>
              <a:defRPr b="0" sz="800">
                <a:solidFill>
                  <a:srgbClr val="7A8A99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11722608" y="649224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A8A99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A8A99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A8A99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A8A99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A8A99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A8A99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A8A99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A8A99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A8A99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a_wide_high_resolution_dark_blue_futuristic_isom.png" id="22" name="Google Shape;2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>
              <a:alpha val="63922"/>
            </a:srgbClr>
          </a:solidFill>
          <a:ln cap="flat" cmpd="sng" w="12700">
            <a:solidFill>
              <a:srgbClr val="0B1F3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0B1F3A">
              <a:alpha val="85098"/>
            </a:srgbClr>
          </a:solidFill>
          <a:ln cap="flat" cmpd="sng" w="12700">
            <a:solidFill>
              <a:srgbClr val="0B1F3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658368" y="731520"/>
            <a:ext cx="1417320" cy="329184"/>
          </a:xfrm>
          <a:prstGeom prst="roundRect">
            <a:avLst>
              <a:gd fmla="val 16667" name="adj"/>
            </a:avLst>
          </a:prstGeom>
          <a:solidFill>
            <a:srgbClr val="F4B942"/>
          </a:solidFill>
          <a:ln cap="flat" cmpd="sng" w="12700">
            <a:solidFill>
              <a:srgbClr val="F4B9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658325" y="731549"/>
            <a:ext cx="1417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F3A"/>
              </a:buClr>
              <a:buSzPts val="920"/>
              <a:buFont typeface="Noto Sans"/>
              <a:buNone/>
            </a:pPr>
            <a:r>
              <a:rPr b="1" i="0" lang="en-US" sz="1520" u="none" cap="none" strike="noStrike">
                <a:solidFill>
                  <a:srgbClr val="0B1F3A"/>
                </a:solidFill>
                <a:latin typeface="Noto Sans"/>
                <a:ea typeface="Noto Sans"/>
                <a:cs typeface="Noto Sans"/>
                <a:sym typeface="Noto Sans"/>
              </a:rPr>
              <a:t>LMS Lite</a:t>
            </a:r>
            <a:endParaRPr b="0" i="0" sz="152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58368" y="1417320"/>
            <a:ext cx="484632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Noto Sans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從申請到結果</a:t>
            </a:r>
            <a:r>
              <a:rPr b="1" lang="en-US" sz="31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：</a:t>
            </a:r>
            <a:endParaRPr b="0" i="0" sz="3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Noto Sans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一條可操作的實驗室流程</a:t>
            </a:r>
            <a:endParaRPr b="0" i="0" sz="31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58313" y="3700437"/>
            <a:ext cx="4389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7F2"/>
              </a:buClr>
              <a:buSzPts val="1500"/>
              <a:buFont typeface="Noto Sans"/>
              <a:buNone/>
            </a:pPr>
            <a:r>
              <a:rPr b="0" i="0" lang="en-US" sz="1500" u="none" cap="none" strike="noStrike">
                <a:solidFill>
                  <a:srgbClr val="DCE7F2"/>
                </a:solidFill>
                <a:latin typeface="Noto Sans"/>
                <a:ea typeface="Noto Sans"/>
                <a:cs typeface="Noto Sans"/>
                <a:sym typeface="Noto Sans"/>
              </a:rPr>
              <a:t>功能展示版 · Django / Heroku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704088" y="3121252"/>
            <a:ext cx="4572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42"/>
              </a:buClr>
              <a:buSzPts val="1400"/>
              <a:buFont typeface="Noto Sans"/>
              <a:buNone/>
            </a:pPr>
            <a:r>
              <a:rPr b="1" i="0" lang="en-US" sz="1400" u="none" cap="none" strike="noStrike">
                <a:solidFill>
                  <a:srgbClr val="F4B942"/>
                </a:solidFill>
                <a:latin typeface="Noto Sans"/>
                <a:ea typeface="Noto Sans"/>
                <a:cs typeface="Noto Sans"/>
                <a:sym typeface="Noto Sans"/>
              </a:rPr>
              <a:t>申請者  ×  Admin  ×  實驗人員</a:t>
            </a:r>
            <a:endParaRPr b="0" i="0" sz="14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85800" y="589788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7F2"/>
              </a:buClr>
              <a:buSzPts val="1050"/>
              <a:buFont typeface="Noto Sans"/>
              <a:buNone/>
            </a:pPr>
            <a:r>
              <a:rPr b="0" i="0" lang="en-US" sz="1050" u="none" cap="none" strike="noStrike">
                <a:solidFill>
                  <a:srgbClr val="DCE7F2"/>
                </a:solidFill>
                <a:latin typeface="Noto Sans"/>
                <a:ea typeface="Noto Sans"/>
                <a:cs typeface="Noto Sans"/>
                <a:sym typeface="Noto Sans"/>
              </a:rPr>
              <a:t>Demo：2026 / 10 / 17</a:t>
            </a:r>
            <a:endParaRPr b="0" i="0" sz="105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658325" y="4261312"/>
            <a:ext cx="4389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E7F2"/>
              </a:buClr>
              <a:buSzPts val="1500"/>
              <a:buFont typeface="Noto Sans"/>
              <a:buNone/>
            </a:pPr>
            <a:r>
              <a:rPr lang="en-US" sz="1500">
                <a:solidFill>
                  <a:srgbClr val="DCE7F2"/>
                </a:solidFill>
                <a:latin typeface="Noto Sans"/>
                <a:ea typeface="Noto Sans"/>
                <a:cs typeface="Noto Sans"/>
                <a:sym typeface="Noto Sans"/>
              </a:rPr>
              <a:t>報告者：101409492 - 華致齊</a:t>
            </a:r>
            <a:endParaRPr b="0" i="0" sz="15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03A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h4a7c42c31eba908b_0_66"/>
          <p:cNvSpPr txBox="1"/>
          <p:nvPr/>
        </p:nvSpPr>
        <p:spPr>
          <a:xfrm>
            <a:off x="647850" y="1835625"/>
            <a:ext cx="10896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專案測試網址</a:t>
            </a:r>
            <a:endParaRPr b="1" sz="24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https://lms-lite-demo-6b4412ed2069.herokuapp.com/</a:t>
            </a:r>
            <a:endParaRPr/>
          </a:p>
        </p:txBody>
      </p:sp>
      <p:sp>
        <p:nvSpPr>
          <p:cNvPr id="37" name="Google Shape;37;h4a7c42c31eba908b_0_66"/>
          <p:cNvSpPr txBox="1"/>
          <p:nvPr/>
        </p:nvSpPr>
        <p:spPr>
          <a:xfrm>
            <a:off x="566928" y="6510528"/>
            <a:ext cx="1097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91A4BA"/>
                </a:solidFill>
                <a:latin typeface="Noto Sans"/>
                <a:ea typeface="Noto Sans"/>
                <a:cs typeface="Noto Sans"/>
                <a:sym typeface="Noto Sans"/>
              </a:rPr>
              <a:t>LMS Lite · Functional Demo</a:t>
            </a:r>
            <a:endParaRPr/>
          </a:p>
        </p:txBody>
      </p:sp>
      <p:sp>
        <p:nvSpPr>
          <p:cNvPr id="38" name="Google Shape;38;h4a7c42c31eba908b_0_66"/>
          <p:cNvSpPr txBox="1"/>
          <p:nvPr/>
        </p:nvSpPr>
        <p:spPr>
          <a:xfrm>
            <a:off x="3637582" y="4475095"/>
            <a:ext cx="475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8BE25"/>
                </a:solidFill>
                <a:latin typeface="Noto Sans"/>
                <a:ea typeface="Noto Sans"/>
                <a:cs typeface="Noto Sans"/>
                <a:sym typeface="Noto Sans"/>
              </a:rPr>
              <a:t>歡迎</a:t>
            </a:r>
            <a:r>
              <a:rPr b="1" lang="en-US" sz="3000">
                <a:solidFill>
                  <a:srgbClr val="F8BE25"/>
                </a:solidFill>
                <a:latin typeface="Noto Sans"/>
                <a:ea typeface="Noto Sans"/>
                <a:cs typeface="Noto Sans"/>
                <a:sym typeface="Noto Sans"/>
              </a:rPr>
              <a:t>測試</a:t>
            </a:r>
            <a:endParaRPr/>
          </a:p>
        </p:txBody>
      </p:sp>
      <p:sp>
        <p:nvSpPr>
          <p:cNvPr id="39" name="Google Shape;39;h4a7c42c31eba908b_0_66"/>
          <p:cNvSpPr/>
          <p:nvPr/>
        </p:nvSpPr>
        <p:spPr>
          <a:xfrm>
            <a:off x="9875520" y="365760"/>
            <a:ext cx="2011800" cy="2011800"/>
          </a:xfrm>
          <a:prstGeom prst="ellipse">
            <a:avLst/>
          </a:prstGeom>
          <a:solidFill>
            <a:srgbClr val="1249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0" name="Google Shape;40;h4a7c42c31eba908b_0_66"/>
          <p:cNvSpPr/>
          <p:nvPr/>
        </p:nvSpPr>
        <p:spPr>
          <a:xfrm>
            <a:off x="10698480" y="5029200"/>
            <a:ext cx="2194500" cy="2194500"/>
          </a:xfrm>
          <a:prstGeom prst="ellipse">
            <a:avLst/>
          </a:prstGeom>
          <a:solidFill>
            <a:srgbClr val="5239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1" name="Google Shape;41;h4a7c42c31eba908b_0_66"/>
          <p:cNvSpPr txBox="1"/>
          <p:nvPr/>
        </p:nvSpPr>
        <p:spPr>
          <a:xfrm>
            <a:off x="689425" y="3118150"/>
            <a:ext cx="10896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註冊邀請碼</a:t>
            </a:r>
            <a:endParaRPr b="1" sz="24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LMSDEMO</a:t>
            </a:r>
            <a:endParaRPr b="1" sz="24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C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F8BE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7" name="Google Shape;47;p2"/>
          <p:cNvSpPr txBox="1"/>
          <p:nvPr/>
        </p:nvSpPr>
        <p:spPr>
          <a:xfrm>
            <a:off x="566928" y="384048"/>
            <a:ext cx="108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C2A49"/>
                </a:solidFill>
                <a:latin typeface="Noto Sans"/>
                <a:ea typeface="Noto Sans"/>
                <a:cs typeface="Noto Sans"/>
                <a:sym typeface="Noto Sans"/>
              </a:rPr>
              <a:t>專案簡介｜為什麼選擇 LMS</a:t>
            </a:r>
            <a:r>
              <a:rPr b="1" lang="en-US" sz="2400">
                <a:solidFill>
                  <a:srgbClr val="0C2A49"/>
                </a:solidFill>
                <a:latin typeface="Noto Sans"/>
                <a:ea typeface="Noto Sans"/>
                <a:cs typeface="Noto Sans"/>
                <a:sym typeface="Noto Sans"/>
              </a:rPr>
              <a:t> (Laboratory Management System)</a:t>
            </a:r>
            <a:r>
              <a:rPr b="1" i="0" lang="en-US" sz="2400" u="none" cap="none" strike="noStrike">
                <a:solidFill>
                  <a:srgbClr val="0C2A49"/>
                </a:solidFill>
                <a:latin typeface="Noto Sans"/>
                <a:ea typeface="Noto Sans"/>
                <a:cs typeface="Noto Sans"/>
                <a:sym typeface="Noto Sans"/>
              </a:rPr>
              <a:t>？</a:t>
            </a:r>
            <a:endParaRPr/>
          </a:p>
        </p:txBody>
      </p:sp>
      <p:sp>
        <p:nvSpPr>
          <p:cNvPr id="48" name="Google Shape;48;p2"/>
          <p:cNvSpPr txBox="1"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AAB2BC"/>
                </a:solidFill>
                <a:latin typeface="Noto Sans"/>
                <a:ea typeface="Noto Sans"/>
                <a:cs typeface="Noto Sans"/>
                <a:sym typeface="Noto Sans"/>
              </a:rPr>
              <a:t>LMS Lite · Functional Demo</a:t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594360" y="1325880"/>
            <a:ext cx="3383280" cy="4434840"/>
          </a:xfrm>
          <a:prstGeom prst="roundRect">
            <a:avLst>
              <a:gd fmla="val 16667" name="adj"/>
            </a:avLst>
          </a:prstGeom>
          <a:solidFill>
            <a:srgbClr val="FFF5EA"/>
          </a:solidFill>
          <a:ln cap="flat" cmpd="sng" w="12700">
            <a:solidFill>
              <a:srgbClr val="D7DD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01150" spcFirstLastPara="1" rIns="164575" wrap="square" tIns="201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26B00"/>
                </a:solidFill>
                <a:latin typeface="Noto Sans"/>
                <a:ea typeface="Noto Sans"/>
                <a:cs typeface="Noto Sans"/>
                <a:sym typeface="Noto Sans"/>
              </a:rPr>
              <a:t>      實務上</a:t>
            </a:r>
            <a:r>
              <a:rPr b="1" lang="en-US" sz="2000">
                <a:solidFill>
                  <a:srgbClr val="F26B00"/>
                </a:solidFill>
                <a:latin typeface="Noto Sans"/>
                <a:ea typeface="Noto Sans"/>
                <a:cs typeface="Noto Sans"/>
                <a:sym typeface="Noto Sans"/>
              </a:rPr>
              <a:t>的問題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1. </a:t>
            </a: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申請資訊容易散落在不同人、不同紀錄中</a:t>
            </a:r>
            <a:endParaRPr sz="15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2. 實驗工作進度難以追蹤、同步</a:t>
            </a:r>
            <a:endParaRPr sz="15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3. 實驗</a:t>
            </a: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排程、執行、結果發布需要不同角色協作，</a:t>
            </a: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行政流程耗時費工且易影響時效性</a:t>
            </a:r>
            <a:endParaRPr sz="15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94360" y="1325880"/>
            <a:ext cx="3383280" cy="64008"/>
          </a:xfrm>
          <a:prstGeom prst="rect">
            <a:avLst/>
          </a:prstGeom>
          <a:solidFill>
            <a:srgbClr val="F2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407408" y="1325880"/>
            <a:ext cx="3383280" cy="4434840"/>
          </a:xfrm>
          <a:prstGeom prst="roundRect">
            <a:avLst>
              <a:gd fmla="val 16667" name="adj"/>
            </a:avLst>
          </a:prstGeom>
          <a:solidFill>
            <a:srgbClr val="EDF5FC"/>
          </a:solidFill>
          <a:ln cap="flat" cmpd="sng" w="12700">
            <a:solidFill>
              <a:srgbClr val="D7DD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01150" spcFirstLastPara="1" rIns="164575" wrap="square" tIns="20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27ED6"/>
                </a:solidFill>
                <a:latin typeface="Noto Sans"/>
                <a:ea typeface="Noto Sans"/>
                <a:cs typeface="Noto Sans"/>
                <a:sym typeface="Noto Sans"/>
              </a:rPr>
              <a:t>專案</a:t>
            </a:r>
            <a:r>
              <a:rPr b="1" lang="en-US" sz="2000">
                <a:solidFill>
                  <a:srgbClr val="327ED6"/>
                </a:solidFill>
                <a:latin typeface="Noto Sans"/>
                <a:ea typeface="Noto Sans"/>
                <a:cs typeface="Noto Sans"/>
                <a:sym typeface="Noto Sans"/>
              </a:rPr>
              <a:t>的目標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1. </a:t>
            </a: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申請者可以</a:t>
            </a: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開</a:t>
            </a: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立申請、追蹤進度、查看結果</a:t>
            </a:r>
            <a:endParaRPr sz="15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2. </a:t>
            </a: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Admin 可以受理、退回、排程與發布結果</a:t>
            </a:r>
            <a:endParaRPr sz="15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3. </a:t>
            </a: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實驗人員只處理被指派的排程與結果輸入</a:t>
            </a:r>
            <a:endParaRPr sz="15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4. </a:t>
            </a: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每一次狀態轉換都可以被系統記錄</a:t>
            </a:r>
            <a:endParaRPr sz="1500"/>
          </a:p>
        </p:txBody>
      </p:sp>
      <p:sp>
        <p:nvSpPr>
          <p:cNvPr id="52" name="Google Shape;52;p2"/>
          <p:cNvSpPr/>
          <p:nvPr/>
        </p:nvSpPr>
        <p:spPr>
          <a:xfrm>
            <a:off x="4407408" y="1325880"/>
            <a:ext cx="3383280" cy="64008"/>
          </a:xfrm>
          <a:prstGeom prst="rect">
            <a:avLst/>
          </a:prstGeom>
          <a:solidFill>
            <a:srgbClr val="327E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8211312" y="1325880"/>
            <a:ext cx="3383280" cy="4434840"/>
          </a:xfrm>
          <a:prstGeom prst="roundRect">
            <a:avLst>
              <a:gd fmla="val 16667" name="adj"/>
            </a:avLst>
          </a:prstGeom>
          <a:solidFill>
            <a:srgbClr val="F4F1FF"/>
          </a:solidFill>
          <a:ln cap="flat" cmpd="sng" w="12700">
            <a:solidFill>
              <a:srgbClr val="D7DD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01150" spcFirstLastPara="1" rIns="164575" wrap="square" tIns="20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052E0"/>
                </a:solidFill>
                <a:latin typeface="Noto Sans"/>
                <a:ea typeface="Noto Sans"/>
                <a:cs typeface="Noto Sans"/>
                <a:sym typeface="Noto Sans"/>
              </a:rPr>
              <a:t>專案成果</a:t>
            </a:r>
            <a:r>
              <a:rPr b="1" lang="en-US" sz="2000">
                <a:solidFill>
                  <a:srgbClr val="7052E0"/>
                </a:solidFill>
                <a:latin typeface="Noto Sans"/>
                <a:ea typeface="Noto Sans"/>
                <a:cs typeface="Noto Sans"/>
                <a:sym typeface="Noto Sans"/>
              </a:rPr>
              <a:t>展示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1. </a:t>
            </a: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從註冊、送出申請一路走到結果發布</a:t>
            </a:r>
            <a:endParaRPr sz="15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2. </a:t>
            </a: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三種身份看到不同工作台與可操作功能</a:t>
            </a:r>
            <a:endParaRPr sz="15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3. </a:t>
            </a: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非法存取會被 403 / 404 阻擋</a:t>
            </a:r>
            <a:endParaRPr sz="15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4. </a:t>
            </a: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展示資料可以快速 seed、reset，方便反覆演練</a:t>
            </a:r>
            <a:endParaRPr sz="15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8211312" y="1325880"/>
            <a:ext cx="3383280" cy="64008"/>
          </a:xfrm>
          <a:prstGeom prst="rect">
            <a:avLst/>
          </a:prstGeom>
          <a:solidFill>
            <a:srgbClr val="7052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C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F8BE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566928" y="384048"/>
            <a:ext cx="108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C2A49"/>
                </a:solidFill>
                <a:latin typeface="Noto Sans"/>
                <a:ea typeface="Noto Sans"/>
                <a:cs typeface="Noto Sans"/>
                <a:sym typeface="Noto Sans"/>
              </a:rPr>
              <a:t>專案簡介｜功能目標</a:t>
            </a:r>
            <a:endParaRPr/>
          </a:p>
        </p:txBody>
      </p:sp>
      <p:sp>
        <p:nvSpPr>
          <p:cNvPr id="61" name="Google Shape;61;p3"/>
          <p:cNvSpPr txBox="1"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AAB2BC"/>
                </a:solidFill>
                <a:latin typeface="Noto Sans"/>
                <a:ea typeface="Noto Sans"/>
                <a:cs typeface="Noto Sans"/>
                <a:sym typeface="Noto Sans"/>
              </a:rPr>
              <a:t>LMS Lite · Functional Demo</a:t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640080" y="1325880"/>
            <a:ext cx="5257800" cy="205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DD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01150" spcFirstLastPara="1" rIns="164575" wrap="square" tIns="20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27ED6"/>
                </a:solidFill>
                <a:latin typeface="Noto Sans"/>
                <a:ea typeface="Noto Sans"/>
                <a:cs typeface="Noto Sans"/>
                <a:sym typeface="Noto Sans"/>
              </a:rPr>
              <a:t>申請流程完整閉環</a:t>
            </a:r>
            <a:endParaRPr b="1" sz="2000">
              <a:solidFill>
                <a:srgbClr val="327ED6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7ED6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草稿 → 送出 → 受理 / 退回 → 排程 → 實驗 → 完成 → 發布</a:t>
            </a:r>
            <a:r>
              <a:rPr lang="en-US" sz="1500"/>
              <a:t>，</a:t>
            </a: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申請者在結果發布前看不到實驗結果</a:t>
            </a:r>
            <a:endParaRPr sz="15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40080" y="1325880"/>
            <a:ext cx="5257800" cy="64008"/>
          </a:xfrm>
          <a:prstGeom prst="rect">
            <a:avLst/>
          </a:prstGeom>
          <a:solidFill>
            <a:srgbClr val="327E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263640" y="1325880"/>
            <a:ext cx="5257800" cy="205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DD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01150" spcFirstLastPara="1" rIns="164575" wrap="square" tIns="20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26B00"/>
                </a:solidFill>
                <a:latin typeface="Noto Sans"/>
                <a:ea typeface="Noto Sans"/>
                <a:cs typeface="Noto Sans"/>
                <a:sym typeface="Noto Sans"/>
              </a:rPr>
              <a:t>三種身份各自有清楚的邊界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Applicant </a:t>
            </a:r>
            <a:r>
              <a:rPr lang="en-US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(申請者)：</a:t>
            </a:r>
            <a:r>
              <a:rPr lang="en-US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只看自己的申請單</a:t>
            </a:r>
            <a:r>
              <a:rPr lang="en-US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及實驗結果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Lab Staff</a:t>
            </a:r>
            <a:r>
              <a:rPr lang="en-US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(實驗人員)：</a:t>
            </a:r>
            <a:r>
              <a:rPr lang="en-US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只看指派給自己的排程</a:t>
            </a:r>
            <a:r>
              <a:rPr lang="en-US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並回復結果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Admin</a:t>
            </a:r>
            <a:r>
              <a:rPr lang="en-US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 (系統管理員)：</a:t>
            </a:r>
            <a:r>
              <a:rPr lang="en-US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負責受理</a:t>
            </a:r>
            <a:r>
              <a:rPr lang="en-US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/退回申請</a:t>
            </a:r>
            <a:r>
              <a:rPr lang="en-US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、排程、</a:t>
            </a:r>
            <a:r>
              <a:rPr lang="en-US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管理</a:t>
            </a:r>
            <a:r>
              <a:rPr lang="en-US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帳號與結果發布</a:t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6263640" y="1325880"/>
            <a:ext cx="5257800" cy="64008"/>
          </a:xfrm>
          <a:prstGeom prst="rect">
            <a:avLst/>
          </a:prstGeom>
          <a:solidFill>
            <a:srgbClr val="F2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40080" y="3703320"/>
            <a:ext cx="5257800" cy="205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DD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01150" spcFirstLastPara="1" rIns="164575" wrap="square" tIns="20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052E0"/>
                </a:solidFill>
                <a:latin typeface="Noto Sans"/>
                <a:ea typeface="Noto Sans"/>
                <a:cs typeface="Noto Sans"/>
                <a:sym typeface="Noto Sans"/>
              </a:rPr>
              <a:t>後端規則保證流程正確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狀態由 service layer 控制，不讓 View 隨意修改</a:t>
            </a: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，</a:t>
            </a:r>
            <a:endParaRPr sz="15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每次狀態變更都留下 RequestStatusLog</a:t>
            </a:r>
            <a:endParaRPr sz="1500"/>
          </a:p>
        </p:txBody>
      </p:sp>
      <p:sp>
        <p:nvSpPr>
          <p:cNvPr id="67" name="Google Shape;67;p3"/>
          <p:cNvSpPr/>
          <p:nvPr/>
        </p:nvSpPr>
        <p:spPr>
          <a:xfrm>
            <a:off x="640080" y="3703320"/>
            <a:ext cx="5257800" cy="64008"/>
          </a:xfrm>
          <a:prstGeom prst="rect">
            <a:avLst/>
          </a:prstGeom>
          <a:solidFill>
            <a:srgbClr val="7052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263640" y="3703320"/>
            <a:ext cx="5257800" cy="205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DD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01150" spcFirstLastPara="1" rIns="164575" wrap="square" tIns="20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B9763"/>
                </a:solidFill>
                <a:latin typeface="Noto Sans"/>
                <a:ea typeface="Noto Sans"/>
                <a:cs typeface="Noto Sans"/>
                <a:sym typeface="Noto Sans"/>
              </a:rPr>
              <a:t>展示資料可以重複使用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seed_demo 建立帳號、主檔與示範申請</a:t>
            </a:r>
            <a:endParaRPr sz="15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reset_demo 將 Heroku 快速恢復到乾淨狀態</a:t>
            </a:r>
            <a:endParaRPr sz="1500"/>
          </a:p>
        </p:txBody>
      </p:sp>
      <p:sp>
        <p:nvSpPr>
          <p:cNvPr id="69" name="Google Shape;69;p3"/>
          <p:cNvSpPr/>
          <p:nvPr/>
        </p:nvSpPr>
        <p:spPr>
          <a:xfrm>
            <a:off x="6263640" y="3703320"/>
            <a:ext cx="5257800" cy="64008"/>
          </a:xfrm>
          <a:prstGeom prst="rect">
            <a:avLst/>
          </a:prstGeom>
          <a:solidFill>
            <a:srgbClr val="2B97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C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F8BE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5" name="Google Shape;75;p4"/>
          <p:cNvSpPr txBox="1"/>
          <p:nvPr/>
        </p:nvSpPr>
        <p:spPr>
          <a:xfrm>
            <a:off x="566928" y="384048"/>
            <a:ext cx="108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C2A49"/>
                </a:solidFill>
                <a:latin typeface="Noto Sans"/>
                <a:ea typeface="Noto Sans"/>
                <a:cs typeface="Noto Sans"/>
                <a:sym typeface="Noto Sans"/>
              </a:rPr>
              <a:t>技術棧</a:t>
            </a:r>
            <a:endParaRPr/>
          </a:p>
        </p:txBody>
      </p:sp>
      <p:sp>
        <p:nvSpPr>
          <p:cNvPr id="76" name="Google Shape;76;p4"/>
          <p:cNvSpPr txBox="1"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AAB2BC"/>
                </a:solidFill>
                <a:latin typeface="Noto Sans"/>
                <a:ea typeface="Noto Sans"/>
                <a:cs typeface="Noto Sans"/>
                <a:sym typeface="Noto Sans"/>
              </a:rPr>
              <a:t>LMS Lite · Functional Demo</a:t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685800" y="1371600"/>
            <a:ext cx="3291840" cy="4297680"/>
          </a:xfrm>
          <a:prstGeom prst="roundRect">
            <a:avLst>
              <a:gd fmla="val 16667" name="adj"/>
            </a:avLst>
          </a:prstGeom>
          <a:solidFill>
            <a:srgbClr val="EDF5FC"/>
          </a:solidFill>
          <a:ln cap="flat" cmpd="sng" w="12700">
            <a:solidFill>
              <a:srgbClr val="D7DD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01150" spcFirstLastPara="1" rIns="164575" wrap="square" tIns="20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27ED6"/>
                </a:solidFill>
                <a:latin typeface="Noto Sans"/>
                <a:ea typeface="Noto Sans"/>
                <a:cs typeface="Noto Sans"/>
                <a:sym typeface="Noto Sans"/>
              </a:rPr>
              <a:t>Backend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Python 3.13</a:t>
            </a:r>
            <a:endParaRPr sz="15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Django 5.2</a:t>
            </a:r>
            <a:endParaRPr sz="15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Django Templates</a:t>
            </a:r>
            <a:endParaRPr sz="15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Django auth / Groups / Permissions</a:t>
            </a:r>
            <a:endParaRPr sz="1500"/>
          </a:p>
        </p:txBody>
      </p:sp>
      <p:sp>
        <p:nvSpPr>
          <p:cNvPr id="78" name="Google Shape;78;p4"/>
          <p:cNvSpPr/>
          <p:nvPr/>
        </p:nvSpPr>
        <p:spPr>
          <a:xfrm>
            <a:off x="685800" y="1371600"/>
            <a:ext cx="3291840" cy="64008"/>
          </a:xfrm>
          <a:prstGeom prst="rect">
            <a:avLst/>
          </a:prstGeom>
          <a:solidFill>
            <a:srgbClr val="327E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453128" y="1371600"/>
            <a:ext cx="3291840" cy="4297680"/>
          </a:xfrm>
          <a:prstGeom prst="roundRect">
            <a:avLst>
              <a:gd fmla="val 16667" name="adj"/>
            </a:avLst>
          </a:prstGeom>
          <a:solidFill>
            <a:srgbClr val="FFF5EA"/>
          </a:solidFill>
          <a:ln cap="flat" cmpd="sng" w="12700">
            <a:solidFill>
              <a:srgbClr val="D7DD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01150" spcFirstLastPara="1" rIns="164575" wrap="square" tIns="20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26B00"/>
                </a:solidFill>
                <a:latin typeface="Noto Sans"/>
                <a:ea typeface="Noto Sans"/>
                <a:cs typeface="Noto Sans"/>
                <a:sym typeface="Noto Sans"/>
              </a:rPr>
              <a:t>Data</a:t>
            </a:r>
            <a:r>
              <a:rPr b="1" lang="en-US" sz="2000">
                <a:solidFill>
                  <a:srgbClr val="F26B00"/>
                </a:solidFill>
                <a:latin typeface="Noto Sans"/>
                <a:ea typeface="Noto Sans"/>
                <a:cs typeface="Noto Sans"/>
                <a:sym typeface="Noto Sans"/>
              </a:rPr>
              <a:t> Base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Local：SQLite</a:t>
            </a:r>
            <a:endParaRPr sz="15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Cloud：Heroku Postgres</a:t>
            </a:r>
            <a:endParaRPr sz="15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000">
                <a:solidFill>
                  <a:srgbClr val="F26B00"/>
                </a:solidFill>
                <a:latin typeface="Noto Sans"/>
                <a:ea typeface="Noto Sans"/>
                <a:cs typeface="Noto Sans"/>
                <a:sym typeface="Noto Sans"/>
              </a:rPr>
              <a:t>Web Server</a:t>
            </a:r>
            <a:r>
              <a:rPr b="1" lang="en-US" sz="2000">
                <a:solidFill>
                  <a:srgbClr val="F26B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endParaRPr sz="15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Gunicorn</a:t>
            </a:r>
            <a:endParaRPr sz="15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000">
                <a:solidFill>
                  <a:srgbClr val="F26B00"/>
                </a:solidFill>
                <a:latin typeface="Noto Sans"/>
                <a:ea typeface="Noto Sans"/>
                <a:cs typeface="Noto Sans"/>
                <a:sym typeface="Noto Sans"/>
              </a:rPr>
              <a:t>Static File Serving </a:t>
            </a:r>
            <a:endParaRPr sz="15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WhiteNoise</a:t>
            </a:r>
            <a:endParaRPr sz="1500"/>
          </a:p>
        </p:txBody>
      </p:sp>
      <p:sp>
        <p:nvSpPr>
          <p:cNvPr id="80" name="Google Shape;80;p4"/>
          <p:cNvSpPr/>
          <p:nvPr/>
        </p:nvSpPr>
        <p:spPr>
          <a:xfrm>
            <a:off x="4453128" y="1371600"/>
            <a:ext cx="3291840" cy="64008"/>
          </a:xfrm>
          <a:prstGeom prst="rect">
            <a:avLst/>
          </a:prstGeom>
          <a:solidFill>
            <a:srgbClr val="F2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8229600" y="1371600"/>
            <a:ext cx="3291840" cy="4297680"/>
          </a:xfrm>
          <a:prstGeom prst="roundRect">
            <a:avLst>
              <a:gd fmla="val 16667" name="adj"/>
            </a:avLst>
          </a:prstGeom>
          <a:solidFill>
            <a:srgbClr val="F4F1FF"/>
          </a:solidFill>
          <a:ln cap="flat" cmpd="sng" w="12700">
            <a:solidFill>
              <a:srgbClr val="D7DD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01150" spcFirstLastPara="1" rIns="164575" wrap="square" tIns="20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052E0"/>
                </a:solidFill>
                <a:latin typeface="Noto Sans"/>
                <a:ea typeface="Noto Sans"/>
                <a:cs typeface="Noto Sans"/>
                <a:sym typeface="Noto Sans"/>
              </a:rPr>
              <a:t>Deployment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Heroku</a:t>
            </a: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 : </a:t>
            </a: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Basic Dyno</a:t>
            </a:r>
            <a:endParaRPr sz="15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2385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DATABASE_URL 切換資料庫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Release phase 自動 migrate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環境變數管理密鑰與邀請碼</a:t>
            </a:r>
            <a:endParaRPr sz="1500"/>
          </a:p>
        </p:txBody>
      </p:sp>
      <p:sp>
        <p:nvSpPr>
          <p:cNvPr id="82" name="Google Shape;82;p4"/>
          <p:cNvSpPr/>
          <p:nvPr/>
        </p:nvSpPr>
        <p:spPr>
          <a:xfrm>
            <a:off x="8229600" y="1371600"/>
            <a:ext cx="3291840" cy="64008"/>
          </a:xfrm>
          <a:prstGeom prst="rect">
            <a:avLst/>
          </a:prstGeom>
          <a:solidFill>
            <a:srgbClr val="7052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C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F8BE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566928" y="384048"/>
            <a:ext cx="108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C2A49"/>
                </a:solidFill>
                <a:latin typeface="Noto Sans"/>
                <a:ea typeface="Noto Sans"/>
                <a:cs typeface="Noto Sans"/>
                <a:sym typeface="Noto Sans"/>
              </a:rPr>
              <a:t>技術架構</a:t>
            </a:r>
            <a:endParaRPr/>
          </a:p>
        </p:txBody>
      </p:sp>
      <p:sp>
        <p:nvSpPr>
          <p:cNvPr id="89" name="Google Shape;89;p5"/>
          <p:cNvSpPr txBox="1"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AAB2BC"/>
                </a:solidFill>
                <a:latin typeface="Noto Sans"/>
                <a:ea typeface="Noto Sans"/>
                <a:cs typeface="Noto Sans"/>
                <a:sym typeface="Noto Sans"/>
              </a:rPr>
              <a:t>LMS Lite · Functional Demo</a:t>
            </a:r>
            <a:endParaRPr/>
          </a:p>
        </p:txBody>
      </p:sp>
      <p:sp>
        <p:nvSpPr>
          <p:cNvPr id="90" name="Google Shape;90;p5"/>
          <p:cNvSpPr/>
          <p:nvPr/>
        </p:nvSpPr>
        <p:spPr>
          <a:xfrm>
            <a:off x="640080" y="1828800"/>
            <a:ext cx="2194560" cy="1097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DD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01150" spcFirstLastPara="1" rIns="164575" wrap="square" tIns="20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27ED6"/>
                </a:solidFill>
                <a:latin typeface="Noto Sans"/>
                <a:ea typeface="Noto Sans"/>
                <a:cs typeface="Noto Sans"/>
                <a:sym typeface="Noto Sans"/>
              </a:rPr>
              <a:t>Browser</a:t>
            </a:r>
            <a:endParaRPr sz="9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Applicant / Admin / Lab Staff</a:t>
            </a:r>
            <a:endParaRPr sz="1800"/>
          </a:p>
        </p:txBody>
      </p:sp>
      <p:sp>
        <p:nvSpPr>
          <p:cNvPr id="91" name="Google Shape;91;p5"/>
          <p:cNvSpPr/>
          <p:nvPr/>
        </p:nvSpPr>
        <p:spPr>
          <a:xfrm>
            <a:off x="640080" y="1828800"/>
            <a:ext cx="2194560" cy="64008"/>
          </a:xfrm>
          <a:prstGeom prst="rect">
            <a:avLst/>
          </a:prstGeom>
          <a:solidFill>
            <a:srgbClr val="327E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3246120" y="1828800"/>
            <a:ext cx="2194560" cy="1097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DD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01150" spcFirstLastPara="1" rIns="164575" wrap="square" tIns="20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26B00"/>
                </a:solidFill>
                <a:latin typeface="Noto Sans"/>
                <a:ea typeface="Noto Sans"/>
                <a:cs typeface="Noto Sans"/>
                <a:sym typeface="Noto Sans"/>
              </a:rPr>
              <a:t>Django</a:t>
            </a:r>
            <a:endParaRPr sz="19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Views · Forms · Templates</a:t>
            </a:r>
            <a:endParaRPr sz="1800"/>
          </a:p>
        </p:txBody>
      </p:sp>
      <p:sp>
        <p:nvSpPr>
          <p:cNvPr id="93" name="Google Shape;93;p5"/>
          <p:cNvSpPr/>
          <p:nvPr/>
        </p:nvSpPr>
        <p:spPr>
          <a:xfrm>
            <a:off x="3246120" y="1828800"/>
            <a:ext cx="2194560" cy="64008"/>
          </a:xfrm>
          <a:prstGeom prst="rect">
            <a:avLst/>
          </a:prstGeom>
          <a:solidFill>
            <a:srgbClr val="F2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5852160" y="1828800"/>
            <a:ext cx="2194560" cy="1097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DD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01150" spcFirstLastPara="1" rIns="164575" wrap="square" tIns="20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052E0"/>
                </a:solidFill>
                <a:latin typeface="Noto Sans"/>
                <a:ea typeface="Noto Sans"/>
                <a:cs typeface="Noto Sans"/>
                <a:sym typeface="Noto Sans"/>
              </a:rPr>
              <a:t>Service Layer</a:t>
            </a:r>
            <a:endParaRPr sz="19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狀態轉換 · 權限副作用</a:t>
            </a:r>
            <a:endParaRPr sz="1800"/>
          </a:p>
        </p:txBody>
      </p:sp>
      <p:sp>
        <p:nvSpPr>
          <p:cNvPr id="95" name="Google Shape;95;p5"/>
          <p:cNvSpPr/>
          <p:nvPr/>
        </p:nvSpPr>
        <p:spPr>
          <a:xfrm>
            <a:off x="5852160" y="1828800"/>
            <a:ext cx="2194560" cy="64008"/>
          </a:xfrm>
          <a:prstGeom prst="rect">
            <a:avLst/>
          </a:prstGeom>
          <a:solidFill>
            <a:srgbClr val="7052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8458200" y="1828800"/>
            <a:ext cx="2194560" cy="1097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7DD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01150" spcFirstLastPara="1" rIns="164575" wrap="square" tIns="20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B9763"/>
                </a:solidFill>
                <a:latin typeface="Noto Sans"/>
                <a:ea typeface="Noto Sans"/>
                <a:cs typeface="Noto Sans"/>
                <a:sym typeface="Noto Sans"/>
              </a:rPr>
              <a:t>PostgreSQL</a:t>
            </a:r>
            <a:endParaRPr sz="19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Request · Schedule · Results</a:t>
            </a:r>
            <a:endParaRPr sz="1800"/>
          </a:p>
        </p:txBody>
      </p:sp>
      <p:sp>
        <p:nvSpPr>
          <p:cNvPr id="97" name="Google Shape;97;p5"/>
          <p:cNvSpPr/>
          <p:nvPr/>
        </p:nvSpPr>
        <p:spPr>
          <a:xfrm>
            <a:off x="8458200" y="1828800"/>
            <a:ext cx="2194560" cy="64008"/>
          </a:xfrm>
          <a:prstGeom prst="rect">
            <a:avLst/>
          </a:prstGeom>
          <a:solidFill>
            <a:srgbClr val="2B97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8" name="Google Shape;98;p5"/>
          <p:cNvSpPr txBox="1"/>
          <p:nvPr/>
        </p:nvSpPr>
        <p:spPr>
          <a:xfrm>
            <a:off x="2880360" y="2029968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647180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  <a:endParaRPr/>
          </a:p>
        </p:txBody>
      </p:sp>
      <p:sp>
        <p:nvSpPr>
          <p:cNvPr id="99" name="Google Shape;99;p5"/>
          <p:cNvSpPr txBox="1"/>
          <p:nvPr/>
        </p:nvSpPr>
        <p:spPr>
          <a:xfrm>
            <a:off x="5486400" y="2029968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647180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  <a:endParaRPr/>
          </a:p>
        </p:txBody>
      </p:sp>
      <p:sp>
        <p:nvSpPr>
          <p:cNvPr id="100" name="Google Shape;100;p5"/>
          <p:cNvSpPr txBox="1"/>
          <p:nvPr/>
        </p:nvSpPr>
        <p:spPr>
          <a:xfrm>
            <a:off x="8092440" y="2029968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647180"/>
                </a:solidFill>
                <a:latin typeface="Noto Sans"/>
                <a:ea typeface="Noto Sans"/>
                <a:cs typeface="Noto Sans"/>
                <a:sym typeface="Noto Sans"/>
              </a:rPr>
              <a:t>→</a:t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1097280" y="3886200"/>
            <a:ext cx="4754880" cy="1508760"/>
          </a:xfrm>
          <a:prstGeom prst="roundRect">
            <a:avLst>
              <a:gd fmla="val 16667" name="adj"/>
            </a:avLst>
          </a:prstGeom>
          <a:solidFill>
            <a:srgbClr val="EDF5FC"/>
          </a:solidFill>
          <a:ln cap="flat" cmpd="sng" w="12700">
            <a:solidFill>
              <a:srgbClr val="D7DD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01150" spcFirstLastPara="1" rIns="164575" wrap="square" tIns="20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C2A49"/>
                </a:solidFill>
                <a:latin typeface="Noto Sans"/>
                <a:ea typeface="Noto Sans"/>
                <a:cs typeface="Noto Sans"/>
                <a:sym typeface="Noto Sans"/>
              </a:rPr>
              <a:t>部署設定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Gunicorn 啟動 Django</a:t>
            </a:r>
            <a:endParaRPr sz="15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WhiteNoise 提供 static files</a:t>
            </a:r>
            <a:endParaRPr sz="15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Heroku Postgres 儲存持久資料</a:t>
            </a:r>
            <a:endParaRPr sz="1500"/>
          </a:p>
        </p:txBody>
      </p:sp>
      <p:sp>
        <p:nvSpPr>
          <p:cNvPr id="102" name="Google Shape;102;p5"/>
          <p:cNvSpPr/>
          <p:nvPr/>
        </p:nvSpPr>
        <p:spPr>
          <a:xfrm>
            <a:off x="1097280" y="3886200"/>
            <a:ext cx="4754880" cy="64008"/>
          </a:xfrm>
          <a:prstGeom prst="rect">
            <a:avLst/>
          </a:prstGeom>
          <a:solidFill>
            <a:srgbClr val="0C2A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6309360" y="3886200"/>
            <a:ext cx="4754880" cy="1508760"/>
          </a:xfrm>
          <a:prstGeom prst="roundRect">
            <a:avLst>
              <a:gd fmla="val 16667" name="adj"/>
            </a:avLst>
          </a:prstGeom>
          <a:solidFill>
            <a:srgbClr val="FFF5EA"/>
          </a:solidFill>
          <a:ln cap="flat" cmpd="sng" w="12700">
            <a:solidFill>
              <a:srgbClr val="D7DD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01150" spcFirstLastPara="1" rIns="164575" wrap="square" tIns="20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26B00"/>
                </a:solidFill>
                <a:latin typeface="Noto Sans"/>
                <a:ea typeface="Noto Sans"/>
                <a:cs typeface="Noto Sans"/>
                <a:sym typeface="Noto Sans"/>
              </a:rPr>
              <a:t>安全設定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SECRET_KEY / DATABASE_URL / 邀請碼放環境變數</a:t>
            </a:r>
            <a:endParaRPr sz="15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HTTPS / Secure Cookie / CSRF 設定</a:t>
            </a:r>
            <a:endParaRPr sz="1500"/>
          </a:p>
        </p:txBody>
      </p:sp>
      <p:sp>
        <p:nvSpPr>
          <p:cNvPr id="104" name="Google Shape;104;p5"/>
          <p:cNvSpPr/>
          <p:nvPr/>
        </p:nvSpPr>
        <p:spPr>
          <a:xfrm>
            <a:off x="6309360" y="3886200"/>
            <a:ext cx="4754880" cy="64008"/>
          </a:xfrm>
          <a:prstGeom prst="rect">
            <a:avLst/>
          </a:prstGeom>
          <a:solidFill>
            <a:srgbClr val="F2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C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F8BE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0" name="Google Shape;110;p6"/>
          <p:cNvSpPr txBox="1"/>
          <p:nvPr/>
        </p:nvSpPr>
        <p:spPr>
          <a:xfrm>
            <a:off x="566928" y="384048"/>
            <a:ext cx="108813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C2A49"/>
                </a:solidFill>
                <a:latin typeface="Noto Sans"/>
                <a:ea typeface="Noto Sans"/>
                <a:cs typeface="Noto Sans"/>
                <a:sym typeface="Noto Sans"/>
              </a:rPr>
              <a:t>專案結構流程圖｜整體運作</a:t>
            </a:r>
            <a:endParaRPr/>
          </a:p>
        </p:txBody>
      </p:sp>
      <p:sp>
        <p:nvSpPr>
          <p:cNvPr id="111" name="Google Shape;111;p6"/>
          <p:cNvSpPr txBox="1"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AAB2BC"/>
                </a:solidFill>
                <a:latin typeface="Noto Sans"/>
                <a:ea typeface="Noto Sans"/>
                <a:cs typeface="Noto Sans"/>
                <a:sym typeface="Noto Sans"/>
              </a:rPr>
              <a:t>LMS Lite · Functional Demo</a:t>
            </a:r>
            <a:endParaRPr/>
          </a:p>
        </p:txBody>
      </p:sp>
      <p:pic>
        <p:nvPicPr>
          <p:cNvPr descr="lms_lite_系統運作流程圖.png" id="112" name="Google Shape;11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1051549"/>
            <a:ext cx="7498099" cy="5623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C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F8BE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566928" y="384048"/>
            <a:ext cx="108813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C2A49"/>
                </a:solidFill>
                <a:latin typeface="Noto Sans"/>
                <a:ea typeface="Noto Sans"/>
                <a:cs typeface="Noto Sans"/>
                <a:sym typeface="Noto Sans"/>
              </a:rPr>
              <a:t>專案結構流程圖｜申請者</a:t>
            </a:r>
            <a:endParaRPr/>
          </a:p>
        </p:txBody>
      </p:sp>
      <p:sp>
        <p:nvSpPr>
          <p:cNvPr id="119" name="Google Shape;119;p7"/>
          <p:cNvSpPr txBox="1"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AAB2BC"/>
                </a:solidFill>
                <a:latin typeface="Noto Sans"/>
                <a:ea typeface="Noto Sans"/>
                <a:cs typeface="Noto Sans"/>
                <a:sym typeface="Noto Sans"/>
              </a:rPr>
              <a:t>LMS Lite · Functional Demo</a:t>
            </a:r>
            <a:endParaRPr/>
          </a:p>
        </p:txBody>
      </p:sp>
      <p:pic>
        <p:nvPicPr>
          <p:cNvPr descr="申請者操作流程圖.png" id="120" name="Google Shape;12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75" y="1051550"/>
            <a:ext cx="7278633" cy="545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C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F8BE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6" name="Google Shape;126;p8"/>
          <p:cNvSpPr txBox="1"/>
          <p:nvPr/>
        </p:nvSpPr>
        <p:spPr>
          <a:xfrm>
            <a:off x="566928" y="384048"/>
            <a:ext cx="108813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C2A49"/>
                </a:solidFill>
                <a:latin typeface="Noto Sans"/>
                <a:ea typeface="Noto Sans"/>
                <a:cs typeface="Noto Sans"/>
                <a:sym typeface="Noto Sans"/>
              </a:rPr>
              <a:t>專案結構流程圖｜Admin</a:t>
            </a:r>
            <a:endParaRPr/>
          </a:p>
        </p:txBody>
      </p:sp>
      <p:sp>
        <p:nvSpPr>
          <p:cNvPr id="127" name="Google Shape;127;p8"/>
          <p:cNvSpPr txBox="1"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AAB2BC"/>
                </a:solidFill>
                <a:latin typeface="Noto Sans"/>
                <a:ea typeface="Noto Sans"/>
                <a:cs typeface="Noto Sans"/>
                <a:sym typeface="Noto Sans"/>
              </a:rPr>
              <a:t>LMS Lite · Functional Demo</a:t>
            </a:r>
            <a:endParaRPr/>
          </a:p>
        </p:txBody>
      </p:sp>
      <p:pic>
        <p:nvPicPr>
          <p:cNvPr descr="深色系_admin_操作流程圖.png" id="128" name="Google Shape;12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75" y="1051550"/>
            <a:ext cx="7278633" cy="545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C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F8BE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4" name="Google Shape;134;p9"/>
          <p:cNvSpPr txBox="1"/>
          <p:nvPr/>
        </p:nvSpPr>
        <p:spPr>
          <a:xfrm>
            <a:off x="566928" y="384048"/>
            <a:ext cx="108813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C2A49"/>
                </a:solidFill>
                <a:latin typeface="Noto Sans"/>
                <a:ea typeface="Noto Sans"/>
                <a:cs typeface="Noto Sans"/>
                <a:sym typeface="Noto Sans"/>
              </a:rPr>
              <a:t>專案結構流程圖｜實驗人員</a:t>
            </a:r>
            <a:endParaRPr/>
          </a:p>
        </p:txBody>
      </p:sp>
      <p:sp>
        <p:nvSpPr>
          <p:cNvPr id="135" name="Google Shape;135;p9"/>
          <p:cNvSpPr txBox="1"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AAB2BC"/>
                </a:solidFill>
                <a:latin typeface="Noto Sans"/>
                <a:ea typeface="Noto Sans"/>
                <a:cs typeface="Noto Sans"/>
                <a:sym typeface="Noto Sans"/>
              </a:rPr>
              <a:t>LMS Lite · Functional Demo</a:t>
            </a:r>
            <a:endParaRPr/>
          </a:p>
        </p:txBody>
      </p:sp>
      <p:pic>
        <p:nvPicPr>
          <p:cNvPr descr="實驗人員操作流程圖.png" id="136" name="Google Shape;13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675" y="1051550"/>
            <a:ext cx="7278633" cy="545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C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F8BE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2" name="Google Shape;142;p10"/>
          <p:cNvSpPr txBox="1"/>
          <p:nvPr/>
        </p:nvSpPr>
        <p:spPr>
          <a:xfrm>
            <a:off x="566928" y="384048"/>
            <a:ext cx="108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C2A49"/>
                </a:solidFill>
                <a:latin typeface="Noto Sans"/>
                <a:ea typeface="Noto Sans"/>
                <a:cs typeface="Noto Sans"/>
                <a:sym typeface="Noto Sans"/>
              </a:rPr>
              <a:t>程式設計重點</a:t>
            </a:r>
            <a:endParaRPr/>
          </a:p>
        </p:txBody>
      </p:sp>
      <p:sp>
        <p:nvSpPr>
          <p:cNvPr id="143" name="Google Shape;143;p10"/>
          <p:cNvSpPr txBox="1"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AAB2BC"/>
                </a:solidFill>
                <a:latin typeface="Noto Sans"/>
                <a:ea typeface="Noto Sans"/>
                <a:cs typeface="Noto Sans"/>
                <a:sym typeface="Noto Sans"/>
              </a:rPr>
              <a:t>LMS Lite · Functional Demo</a:t>
            </a:r>
            <a:endParaRPr/>
          </a:p>
        </p:txBody>
      </p:sp>
      <p:sp>
        <p:nvSpPr>
          <p:cNvPr id="144" name="Google Shape;144;p10"/>
          <p:cNvSpPr/>
          <p:nvPr/>
        </p:nvSpPr>
        <p:spPr>
          <a:xfrm>
            <a:off x="640080" y="1371600"/>
            <a:ext cx="5303520" cy="1920240"/>
          </a:xfrm>
          <a:prstGeom prst="roundRect">
            <a:avLst>
              <a:gd fmla="val 16667" name="adj"/>
            </a:avLst>
          </a:prstGeom>
          <a:solidFill>
            <a:srgbClr val="EDF5FC"/>
          </a:solidFill>
          <a:ln cap="flat" cmpd="sng" w="12700">
            <a:solidFill>
              <a:srgbClr val="D7DD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01150" spcFirstLastPara="1" rIns="164575" wrap="square" tIns="20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27ED6"/>
                </a:solidFill>
                <a:latin typeface="Noto Sans"/>
                <a:ea typeface="Noto Sans"/>
                <a:cs typeface="Noto Sans"/>
                <a:sym typeface="Noto Sans"/>
              </a:rPr>
              <a:t>身份與權限</a:t>
            </a:r>
            <a:endParaRPr sz="19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登入後依群組導向對應工作台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Applicant / Lab Staff 在 queryset 層限制可見資料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跨角色工作台回 403；他人資料回 404</a:t>
            </a:r>
            <a:endParaRPr sz="1500"/>
          </a:p>
        </p:txBody>
      </p:sp>
      <p:sp>
        <p:nvSpPr>
          <p:cNvPr id="145" name="Google Shape;145;p10"/>
          <p:cNvSpPr/>
          <p:nvPr/>
        </p:nvSpPr>
        <p:spPr>
          <a:xfrm>
            <a:off x="640080" y="1371600"/>
            <a:ext cx="5303520" cy="64008"/>
          </a:xfrm>
          <a:prstGeom prst="rect">
            <a:avLst/>
          </a:prstGeom>
          <a:solidFill>
            <a:srgbClr val="327E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6217920" y="1371600"/>
            <a:ext cx="5303520" cy="1920240"/>
          </a:xfrm>
          <a:prstGeom prst="roundRect">
            <a:avLst>
              <a:gd fmla="val 16667" name="adj"/>
            </a:avLst>
          </a:prstGeom>
          <a:solidFill>
            <a:srgbClr val="F4F1FF"/>
          </a:solidFill>
          <a:ln cap="flat" cmpd="sng" w="12700">
            <a:solidFill>
              <a:srgbClr val="D7DD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01150" spcFirstLastPara="1" rIns="164575" wrap="square" tIns="20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052E0"/>
                </a:solidFill>
                <a:latin typeface="Noto Sans"/>
                <a:ea typeface="Noto Sans"/>
                <a:cs typeface="Noto Sans"/>
                <a:sym typeface="Noto Sans"/>
              </a:rPr>
              <a:t>狀態轉換</a:t>
            </a:r>
            <a:endParaRPr sz="19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Request.status 是流程的單一來源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所有合法轉換集中在 service layer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每次轉換都寫入 RequestStatusLog</a:t>
            </a:r>
            <a:endParaRPr sz="1500"/>
          </a:p>
        </p:txBody>
      </p:sp>
      <p:sp>
        <p:nvSpPr>
          <p:cNvPr id="147" name="Google Shape;147;p10"/>
          <p:cNvSpPr/>
          <p:nvPr/>
        </p:nvSpPr>
        <p:spPr>
          <a:xfrm>
            <a:off x="6217920" y="1371600"/>
            <a:ext cx="5303520" cy="64008"/>
          </a:xfrm>
          <a:prstGeom prst="rect">
            <a:avLst/>
          </a:prstGeom>
          <a:solidFill>
            <a:srgbClr val="7052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640080" y="3657600"/>
            <a:ext cx="5303520" cy="1920240"/>
          </a:xfrm>
          <a:prstGeom prst="roundRect">
            <a:avLst>
              <a:gd fmla="val 16667" name="adj"/>
            </a:avLst>
          </a:prstGeom>
          <a:solidFill>
            <a:srgbClr val="EEF9F4"/>
          </a:solidFill>
          <a:ln cap="flat" cmpd="sng" w="12700">
            <a:solidFill>
              <a:srgbClr val="D7DD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01150" spcFirstLastPara="1" rIns="164575" wrap="square" tIns="20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B9763"/>
                </a:solidFill>
                <a:latin typeface="Noto Sans"/>
                <a:ea typeface="Noto Sans"/>
                <a:cs typeface="Noto Sans"/>
                <a:sym typeface="Noto Sans"/>
              </a:rPr>
              <a:t>排程與結果</a:t>
            </a:r>
            <a:endParaRPr sz="19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一張 Request 對應一筆 Schedule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Lab Staff 可暫存結果；所有結果填完才能完成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Admin 發布後 Applicant 才可見結果</a:t>
            </a:r>
            <a:endParaRPr sz="1500"/>
          </a:p>
        </p:txBody>
      </p:sp>
      <p:sp>
        <p:nvSpPr>
          <p:cNvPr id="149" name="Google Shape;149;p10"/>
          <p:cNvSpPr/>
          <p:nvPr/>
        </p:nvSpPr>
        <p:spPr>
          <a:xfrm>
            <a:off x="640080" y="3657600"/>
            <a:ext cx="5303520" cy="64008"/>
          </a:xfrm>
          <a:prstGeom prst="rect">
            <a:avLst/>
          </a:prstGeom>
          <a:solidFill>
            <a:srgbClr val="2B97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6217920" y="3657600"/>
            <a:ext cx="5303520" cy="1920240"/>
          </a:xfrm>
          <a:prstGeom prst="roundRect">
            <a:avLst>
              <a:gd fmla="val 16667" name="adj"/>
            </a:avLst>
          </a:prstGeom>
          <a:solidFill>
            <a:srgbClr val="FFF5EA"/>
          </a:solidFill>
          <a:ln cap="flat" cmpd="sng" w="12700">
            <a:solidFill>
              <a:srgbClr val="D7DD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01150" spcFirstLastPara="1" rIns="164575" wrap="square" tIns="20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26B00"/>
                </a:solidFill>
                <a:latin typeface="Noto Sans"/>
                <a:ea typeface="Noto Sans"/>
                <a:cs typeface="Noto Sans"/>
                <a:sym typeface="Noto Sans"/>
              </a:rPr>
              <a:t>可重現的 Demo</a:t>
            </a:r>
            <a:endParaRPr sz="19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seed_demo 建立完整示範資料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reset_demo 會清資料再重新 seed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演練失敗可以快速回復到同一個起點</a:t>
            </a:r>
            <a:endParaRPr sz="1500"/>
          </a:p>
        </p:txBody>
      </p:sp>
      <p:sp>
        <p:nvSpPr>
          <p:cNvPr id="151" name="Google Shape;151;p10"/>
          <p:cNvSpPr/>
          <p:nvPr/>
        </p:nvSpPr>
        <p:spPr>
          <a:xfrm>
            <a:off x="6217920" y="3657600"/>
            <a:ext cx="5303520" cy="64008"/>
          </a:xfrm>
          <a:prstGeom prst="rect">
            <a:avLst/>
          </a:prstGeom>
          <a:solidFill>
            <a:srgbClr val="F2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C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F8BE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7" name="Google Shape;157;p11"/>
          <p:cNvSpPr txBox="1"/>
          <p:nvPr/>
        </p:nvSpPr>
        <p:spPr>
          <a:xfrm>
            <a:off x="566928" y="384048"/>
            <a:ext cx="108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C2A49"/>
                </a:solidFill>
                <a:latin typeface="Noto Sans"/>
                <a:ea typeface="Noto Sans"/>
                <a:cs typeface="Noto Sans"/>
                <a:sym typeface="Noto Sans"/>
              </a:rPr>
              <a:t>推送前怎麼測試？</a:t>
            </a:r>
            <a:endParaRPr/>
          </a:p>
        </p:txBody>
      </p:sp>
      <p:sp>
        <p:nvSpPr>
          <p:cNvPr id="158" name="Google Shape;158;p11"/>
          <p:cNvSpPr txBox="1"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AAB2BC"/>
                </a:solidFill>
                <a:latin typeface="Noto Sans"/>
                <a:ea typeface="Noto Sans"/>
                <a:cs typeface="Noto Sans"/>
                <a:sym typeface="Noto Sans"/>
              </a:rPr>
              <a:t>LMS Lite · Functional Demo</a:t>
            </a:r>
            <a:endParaRPr/>
          </a:p>
        </p:txBody>
      </p:sp>
      <p:sp>
        <p:nvSpPr>
          <p:cNvPr id="159" name="Google Shape;159;p11"/>
          <p:cNvSpPr/>
          <p:nvPr/>
        </p:nvSpPr>
        <p:spPr>
          <a:xfrm>
            <a:off x="640080" y="1325880"/>
            <a:ext cx="3657600" cy="4389120"/>
          </a:xfrm>
          <a:prstGeom prst="roundRect">
            <a:avLst>
              <a:gd fmla="val 16667" name="adj"/>
            </a:avLst>
          </a:prstGeom>
          <a:solidFill>
            <a:srgbClr val="EDF5FC"/>
          </a:solidFill>
          <a:ln cap="flat" cmpd="sng" w="12700">
            <a:solidFill>
              <a:srgbClr val="D7DD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01150" spcFirstLastPara="1" rIns="164575" wrap="square" tIns="20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27ED6"/>
                </a:solidFill>
                <a:latin typeface="Noto Sans"/>
                <a:ea typeface="Noto Sans"/>
                <a:cs typeface="Noto Sans"/>
                <a:sym typeface="Noto Sans"/>
              </a:rPr>
              <a:t>自動測試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執行：python manage.py test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合法 / 非法狀態轉換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身份與權限（403 / 404）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配號規則與結果完整性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註冊邀請碼、seed、reset</a:t>
            </a:r>
            <a:endParaRPr sz="1500"/>
          </a:p>
        </p:txBody>
      </p:sp>
      <p:sp>
        <p:nvSpPr>
          <p:cNvPr id="160" name="Google Shape;160;p11"/>
          <p:cNvSpPr/>
          <p:nvPr/>
        </p:nvSpPr>
        <p:spPr>
          <a:xfrm>
            <a:off x="640080" y="1325880"/>
            <a:ext cx="3657600" cy="64008"/>
          </a:xfrm>
          <a:prstGeom prst="rect">
            <a:avLst/>
          </a:prstGeom>
          <a:solidFill>
            <a:srgbClr val="327E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1" name="Google Shape;161;p11"/>
          <p:cNvSpPr/>
          <p:nvPr/>
        </p:nvSpPr>
        <p:spPr>
          <a:xfrm>
            <a:off x="4526280" y="1325880"/>
            <a:ext cx="3291840" cy="4389120"/>
          </a:xfrm>
          <a:prstGeom prst="roundRect">
            <a:avLst>
              <a:gd fmla="val 16667" name="adj"/>
            </a:avLst>
          </a:prstGeom>
          <a:solidFill>
            <a:srgbClr val="FFF5EA"/>
          </a:solidFill>
          <a:ln cap="flat" cmpd="sng" w="12700">
            <a:solidFill>
              <a:srgbClr val="D7DD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01150" spcFirstLastPara="1" rIns="164575" wrap="square" tIns="20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26B00"/>
                </a:solidFill>
                <a:latin typeface="Noto Sans"/>
                <a:ea typeface="Noto Sans"/>
                <a:cs typeface="Noto Sans"/>
                <a:sym typeface="Noto Sans"/>
              </a:rPr>
              <a:t>推送前流程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python manage.py check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python manage.py test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python manage.py seed_demo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本機走一次主要劇本</a:t>
            </a:r>
            <a:r>
              <a:rPr lang="en-US" sz="1500"/>
              <a:t>，</a:t>
            </a: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再 push GitHub / Heroku</a:t>
            </a:r>
            <a:endParaRPr sz="1500"/>
          </a:p>
        </p:txBody>
      </p:sp>
      <p:sp>
        <p:nvSpPr>
          <p:cNvPr id="162" name="Google Shape;162;p11"/>
          <p:cNvSpPr/>
          <p:nvPr/>
        </p:nvSpPr>
        <p:spPr>
          <a:xfrm>
            <a:off x="4526280" y="1325880"/>
            <a:ext cx="3291840" cy="64008"/>
          </a:xfrm>
          <a:prstGeom prst="rect">
            <a:avLst/>
          </a:prstGeom>
          <a:solidFill>
            <a:srgbClr val="F2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8046720" y="1325880"/>
            <a:ext cx="3520440" cy="4389120"/>
          </a:xfrm>
          <a:prstGeom prst="roundRect">
            <a:avLst>
              <a:gd fmla="val 16667" name="adj"/>
            </a:avLst>
          </a:prstGeom>
          <a:solidFill>
            <a:srgbClr val="F4F1FF"/>
          </a:solidFill>
          <a:ln cap="flat" cmpd="sng" w="12700">
            <a:solidFill>
              <a:srgbClr val="D7DD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01150" spcFirstLastPara="1" rIns="164575" wrap="square" tIns="20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052E0"/>
                </a:solidFill>
                <a:latin typeface="Noto Sans"/>
                <a:ea typeface="Noto Sans"/>
                <a:cs typeface="Noto Sans"/>
                <a:sym typeface="Noto Sans"/>
              </a:rPr>
              <a:t>為什麼不是 pytest？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展示專案使用 Django 原生 TestCase 已足夠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減少 pytest / pytest-django 額外依賴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統一用 manage.py test，部署環境更單純</a:t>
            </a:r>
            <a:endParaRPr sz="1500"/>
          </a:p>
        </p:txBody>
      </p:sp>
      <p:sp>
        <p:nvSpPr>
          <p:cNvPr id="164" name="Google Shape;164;p11"/>
          <p:cNvSpPr/>
          <p:nvPr/>
        </p:nvSpPr>
        <p:spPr>
          <a:xfrm>
            <a:off x="8046720" y="1325880"/>
            <a:ext cx="3520440" cy="64008"/>
          </a:xfrm>
          <a:prstGeom prst="rect">
            <a:avLst/>
          </a:prstGeom>
          <a:solidFill>
            <a:srgbClr val="7052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C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F8BE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0" name="Google Shape;170;p12"/>
          <p:cNvSpPr txBox="1"/>
          <p:nvPr/>
        </p:nvSpPr>
        <p:spPr>
          <a:xfrm>
            <a:off x="566928" y="384048"/>
            <a:ext cx="108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C2A49"/>
                </a:solidFill>
                <a:latin typeface="Noto Sans"/>
                <a:ea typeface="Noto Sans"/>
                <a:cs typeface="Noto Sans"/>
                <a:sym typeface="Noto Sans"/>
              </a:rPr>
              <a:t>Demo 資料怎麼灌？怎麼 Reset？</a:t>
            </a:r>
            <a:endParaRPr/>
          </a:p>
        </p:txBody>
      </p:sp>
      <p:sp>
        <p:nvSpPr>
          <p:cNvPr id="171" name="Google Shape;171;p12"/>
          <p:cNvSpPr txBox="1"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AAB2BC"/>
                </a:solidFill>
                <a:latin typeface="Noto Sans"/>
                <a:ea typeface="Noto Sans"/>
                <a:cs typeface="Noto Sans"/>
                <a:sym typeface="Noto Sans"/>
              </a:rPr>
              <a:t>LMS Lite · Functional Demo</a:t>
            </a:r>
            <a:endParaRPr/>
          </a:p>
        </p:txBody>
      </p:sp>
      <p:sp>
        <p:nvSpPr>
          <p:cNvPr id="172" name="Google Shape;172;p12"/>
          <p:cNvSpPr/>
          <p:nvPr/>
        </p:nvSpPr>
        <p:spPr>
          <a:xfrm>
            <a:off x="685800" y="1371600"/>
            <a:ext cx="5212080" cy="3337560"/>
          </a:xfrm>
          <a:prstGeom prst="roundRect">
            <a:avLst>
              <a:gd fmla="val 16667" name="adj"/>
            </a:avLst>
          </a:prstGeom>
          <a:solidFill>
            <a:srgbClr val="EDF5FC"/>
          </a:solidFill>
          <a:ln cap="flat" cmpd="sng" w="12700">
            <a:solidFill>
              <a:srgbClr val="D7DD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01150" spcFirstLastPara="1" rIns="164575" wrap="square" tIns="20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27ED6"/>
                </a:solidFill>
                <a:latin typeface="Noto Sans"/>
                <a:ea typeface="Noto Sans"/>
                <a:cs typeface="Noto Sans"/>
                <a:sym typeface="Noto Sans"/>
              </a:rPr>
              <a:t>seed_demo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建立 Admin / LabStaff / Applicant 三個群組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建立 demo_admin、lab1、lab2、applicant1、applicant2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建立 TestItem 與示範申請單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可重複執行，不會一直產生重複資料</a:t>
            </a:r>
            <a:endParaRPr sz="1500"/>
          </a:p>
        </p:txBody>
      </p:sp>
      <p:sp>
        <p:nvSpPr>
          <p:cNvPr id="173" name="Google Shape;173;p12"/>
          <p:cNvSpPr/>
          <p:nvPr/>
        </p:nvSpPr>
        <p:spPr>
          <a:xfrm>
            <a:off x="685800" y="1371600"/>
            <a:ext cx="5212080" cy="64008"/>
          </a:xfrm>
          <a:prstGeom prst="rect">
            <a:avLst/>
          </a:prstGeom>
          <a:solidFill>
            <a:srgbClr val="327E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4" name="Google Shape;174;p12"/>
          <p:cNvSpPr/>
          <p:nvPr/>
        </p:nvSpPr>
        <p:spPr>
          <a:xfrm>
            <a:off x="6263640" y="1371600"/>
            <a:ext cx="5212080" cy="3337560"/>
          </a:xfrm>
          <a:prstGeom prst="roundRect">
            <a:avLst>
              <a:gd fmla="val 16667" name="adj"/>
            </a:avLst>
          </a:prstGeom>
          <a:solidFill>
            <a:srgbClr val="EEF9F4"/>
          </a:solidFill>
          <a:ln cap="flat" cmpd="sng" w="12700">
            <a:solidFill>
              <a:srgbClr val="D7DD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01150" spcFirstLastPara="1" rIns="164575" wrap="square" tIns="20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B9763"/>
                </a:solidFill>
                <a:latin typeface="Noto Sans"/>
                <a:ea typeface="Noto Sans"/>
                <a:cs typeface="Noto Sans"/>
                <a:sym typeface="Noto Sans"/>
              </a:rPr>
              <a:t>reset_demo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沒有 --yes：只預覽將刪除的資料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加上 --yes：刪除業務資料與非 superuser 帳號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接著重新呼叫 seed_demo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上課前一小時執行一次</a:t>
            </a:r>
            <a:endParaRPr sz="1500"/>
          </a:p>
        </p:txBody>
      </p:sp>
      <p:sp>
        <p:nvSpPr>
          <p:cNvPr id="175" name="Google Shape;175;p12"/>
          <p:cNvSpPr/>
          <p:nvPr/>
        </p:nvSpPr>
        <p:spPr>
          <a:xfrm>
            <a:off x="6263640" y="1371600"/>
            <a:ext cx="5212080" cy="64008"/>
          </a:xfrm>
          <a:prstGeom prst="rect">
            <a:avLst/>
          </a:prstGeom>
          <a:solidFill>
            <a:srgbClr val="2B97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76" name="Google Shape;176;p12"/>
          <p:cNvSpPr txBox="1"/>
          <p:nvPr/>
        </p:nvSpPr>
        <p:spPr>
          <a:xfrm>
            <a:off x="914400" y="521208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C2A49"/>
                </a:solidFill>
                <a:latin typeface="Noto Sans"/>
                <a:ea typeface="Noto Sans"/>
                <a:cs typeface="Noto Sans"/>
                <a:sym typeface="Noto Sans"/>
              </a:rPr>
              <a:t>Heroku：heroku run -a lms-lite-demo "python manage.py reset_demo --yes"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C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F8BE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82" name="Google Shape;182;p13"/>
          <p:cNvSpPr txBox="1"/>
          <p:nvPr/>
        </p:nvSpPr>
        <p:spPr>
          <a:xfrm>
            <a:off x="566928" y="384048"/>
            <a:ext cx="108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C2A49"/>
                </a:solidFill>
                <a:latin typeface="Noto Sans"/>
                <a:ea typeface="Noto Sans"/>
                <a:cs typeface="Noto Sans"/>
                <a:sym typeface="Noto Sans"/>
              </a:rPr>
              <a:t>實際程式碼｜身份與導頁</a:t>
            </a:r>
            <a:endParaRPr/>
          </a:p>
        </p:txBody>
      </p:sp>
      <p:sp>
        <p:nvSpPr>
          <p:cNvPr id="183" name="Google Shape;183;p13"/>
          <p:cNvSpPr txBox="1"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AAB2BC"/>
                </a:solidFill>
                <a:latin typeface="Noto Sans"/>
                <a:ea typeface="Noto Sans"/>
                <a:cs typeface="Noto Sans"/>
                <a:sym typeface="Noto Sans"/>
              </a:rPr>
              <a:t>LMS Lite · Functional Demo</a:t>
            </a:r>
            <a:endParaRPr/>
          </a:p>
        </p:txBody>
      </p:sp>
      <p:pic>
        <p:nvPicPr>
          <p:cNvPr id="184" name="Google Shape;1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7850" y="845750"/>
            <a:ext cx="6616288" cy="5577849"/>
          </a:xfrm>
          <a:prstGeom prst="rect">
            <a:avLst/>
          </a:prstGeom>
          <a:solidFill>
            <a:srgbClr val="F7F8FA"/>
          </a:solidFill>
          <a:ln cap="flat" cmpd="sng" w="9525">
            <a:solidFill>
              <a:srgbClr val="B9C1CB"/>
            </a:solidFill>
            <a:prstDash val="dash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C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h4a7c42c31eba908b_0_2"/>
          <p:cNvSpPr/>
          <p:nvPr/>
        </p:nvSpPr>
        <p:spPr>
          <a:xfrm>
            <a:off x="0" y="0"/>
            <a:ext cx="12192000" cy="50400"/>
          </a:xfrm>
          <a:prstGeom prst="rect">
            <a:avLst/>
          </a:prstGeom>
          <a:solidFill>
            <a:srgbClr val="F8BE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0" name="Google Shape;190;h4a7c42c31eba908b_0_2"/>
          <p:cNvSpPr txBox="1"/>
          <p:nvPr/>
        </p:nvSpPr>
        <p:spPr>
          <a:xfrm>
            <a:off x="566928" y="384048"/>
            <a:ext cx="108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C2A49"/>
                </a:solidFill>
                <a:latin typeface="Noto Sans"/>
                <a:ea typeface="Noto Sans"/>
                <a:cs typeface="Noto Sans"/>
                <a:sym typeface="Noto Sans"/>
              </a:rPr>
              <a:t>實際程式碼｜身份與導頁</a:t>
            </a:r>
            <a:endParaRPr/>
          </a:p>
        </p:txBody>
      </p:sp>
      <p:sp>
        <p:nvSpPr>
          <p:cNvPr id="191" name="Google Shape;191;h4a7c42c31eba908b_0_2"/>
          <p:cNvSpPr txBox="1"/>
          <p:nvPr/>
        </p:nvSpPr>
        <p:spPr>
          <a:xfrm>
            <a:off x="566928" y="6510528"/>
            <a:ext cx="1097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AAB2BC"/>
                </a:solidFill>
                <a:latin typeface="Noto Sans"/>
                <a:ea typeface="Noto Sans"/>
                <a:cs typeface="Noto Sans"/>
                <a:sym typeface="Noto Sans"/>
              </a:rPr>
              <a:t>LMS Lite · Functional Demo</a:t>
            </a:r>
            <a:endParaRPr/>
          </a:p>
        </p:txBody>
      </p:sp>
      <p:pic>
        <p:nvPicPr>
          <p:cNvPr id="192" name="Google Shape;192;h4a7c42c31eba908b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7650" y="919587"/>
            <a:ext cx="6259846" cy="5517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C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h4a7c42c31eba908b_0_19"/>
          <p:cNvSpPr/>
          <p:nvPr/>
        </p:nvSpPr>
        <p:spPr>
          <a:xfrm>
            <a:off x="0" y="0"/>
            <a:ext cx="12192000" cy="50400"/>
          </a:xfrm>
          <a:prstGeom prst="rect">
            <a:avLst/>
          </a:prstGeom>
          <a:solidFill>
            <a:srgbClr val="F8BE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8" name="Google Shape;198;h4a7c42c31eba908b_0_19"/>
          <p:cNvSpPr txBox="1"/>
          <p:nvPr/>
        </p:nvSpPr>
        <p:spPr>
          <a:xfrm>
            <a:off x="566928" y="384048"/>
            <a:ext cx="108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C2A49"/>
                </a:solidFill>
                <a:latin typeface="Noto Sans"/>
                <a:ea typeface="Noto Sans"/>
                <a:cs typeface="Noto Sans"/>
                <a:sym typeface="Noto Sans"/>
              </a:rPr>
              <a:t>實際程式碼｜身份與導頁</a:t>
            </a:r>
            <a:endParaRPr/>
          </a:p>
        </p:txBody>
      </p:sp>
      <p:sp>
        <p:nvSpPr>
          <p:cNvPr id="199" name="Google Shape;199;h4a7c42c31eba908b_0_19"/>
          <p:cNvSpPr txBox="1"/>
          <p:nvPr/>
        </p:nvSpPr>
        <p:spPr>
          <a:xfrm>
            <a:off x="566928" y="6510528"/>
            <a:ext cx="1097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AAB2BC"/>
                </a:solidFill>
                <a:latin typeface="Noto Sans"/>
                <a:ea typeface="Noto Sans"/>
                <a:cs typeface="Noto Sans"/>
                <a:sym typeface="Noto Sans"/>
              </a:rPr>
              <a:t>LMS Lite · Functional Demo</a:t>
            </a:r>
            <a:endParaRPr/>
          </a:p>
        </p:txBody>
      </p:sp>
      <p:pic>
        <p:nvPicPr>
          <p:cNvPr id="200" name="Google Shape;200;h4a7c42c31eba908b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2488" y="951750"/>
            <a:ext cx="7441677" cy="5558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C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F8BE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06" name="Google Shape;206;p14"/>
          <p:cNvSpPr txBox="1"/>
          <p:nvPr/>
        </p:nvSpPr>
        <p:spPr>
          <a:xfrm>
            <a:off x="566928" y="384048"/>
            <a:ext cx="108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C2A49"/>
                </a:solidFill>
                <a:latin typeface="Noto Sans"/>
                <a:ea typeface="Noto Sans"/>
                <a:cs typeface="Noto Sans"/>
                <a:sym typeface="Noto Sans"/>
              </a:rPr>
              <a:t>實際程式碼｜狀態轉換 Service</a:t>
            </a:r>
            <a:endParaRPr/>
          </a:p>
        </p:txBody>
      </p:sp>
      <p:sp>
        <p:nvSpPr>
          <p:cNvPr id="207" name="Google Shape;207;p14"/>
          <p:cNvSpPr txBox="1"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AAB2BC"/>
                </a:solidFill>
                <a:latin typeface="Noto Sans"/>
                <a:ea typeface="Noto Sans"/>
                <a:cs typeface="Noto Sans"/>
                <a:sym typeface="Noto Sans"/>
              </a:rPr>
              <a:t>LMS Lite · Functional Demo</a:t>
            </a:r>
            <a:endParaRPr/>
          </a:p>
        </p:txBody>
      </p:sp>
      <p:pic>
        <p:nvPicPr>
          <p:cNvPr id="208" name="Google Shape;20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9498"/>
            <a:ext cx="11887201" cy="4559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C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h4a7c42c31eba908b_0_29"/>
          <p:cNvSpPr/>
          <p:nvPr/>
        </p:nvSpPr>
        <p:spPr>
          <a:xfrm>
            <a:off x="0" y="0"/>
            <a:ext cx="12192000" cy="50400"/>
          </a:xfrm>
          <a:prstGeom prst="rect">
            <a:avLst/>
          </a:prstGeom>
          <a:solidFill>
            <a:srgbClr val="F8BE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14" name="Google Shape;214;h4a7c42c31eba908b_0_29"/>
          <p:cNvSpPr txBox="1"/>
          <p:nvPr/>
        </p:nvSpPr>
        <p:spPr>
          <a:xfrm>
            <a:off x="566928" y="384048"/>
            <a:ext cx="108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C2A49"/>
                </a:solidFill>
                <a:latin typeface="Noto Sans"/>
                <a:ea typeface="Noto Sans"/>
                <a:cs typeface="Noto Sans"/>
                <a:sym typeface="Noto Sans"/>
              </a:rPr>
              <a:t>實際程式碼｜狀態轉換 Service</a:t>
            </a:r>
            <a:endParaRPr/>
          </a:p>
        </p:txBody>
      </p:sp>
      <p:sp>
        <p:nvSpPr>
          <p:cNvPr id="215" name="Google Shape;215;h4a7c42c31eba908b_0_29"/>
          <p:cNvSpPr txBox="1"/>
          <p:nvPr/>
        </p:nvSpPr>
        <p:spPr>
          <a:xfrm>
            <a:off x="566928" y="6510528"/>
            <a:ext cx="1097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AAB2BC"/>
                </a:solidFill>
                <a:latin typeface="Noto Sans"/>
                <a:ea typeface="Noto Sans"/>
                <a:cs typeface="Noto Sans"/>
                <a:sym typeface="Noto Sans"/>
              </a:rPr>
              <a:t>LMS Lite · Functional Demo</a:t>
            </a:r>
            <a:endParaRPr/>
          </a:p>
        </p:txBody>
      </p:sp>
      <p:pic>
        <p:nvPicPr>
          <p:cNvPr id="216" name="Google Shape;216;h4a7c42c31eba908b_0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275" y="1179400"/>
            <a:ext cx="11249449" cy="475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C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h4a7c42c31eba908b_0_39"/>
          <p:cNvSpPr/>
          <p:nvPr/>
        </p:nvSpPr>
        <p:spPr>
          <a:xfrm>
            <a:off x="0" y="0"/>
            <a:ext cx="12192000" cy="50400"/>
          </a:xfrm>
          <a:prstGeom prst="rect">
            <a:avLst/>
          </a:prstGeom>
          <a:solidFill>
            <a:srgbClr val="F8BE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22" name="Google Shape;222;h4a7c42c31eba908b_0_39"/>
          <p:cNvSpPr txBox="1"/>
          <p:nvPr/>
        </p:nvSpPr>
        <p:spPr>
          <a:xfrm>
            <a:off x="566928" y="384048"/>
            <a:ext cx="108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C2A49"/>
                </a:solidFill>
                <a:latin typeface="Noto Sans"/>
                <a:ea typeface="Noto Sans"/>
                <a:cs typeface="Noto Sans"/>
                <a:sym typeface="Noto Sans"/>
              </a:rPr>
              <a:t>實際程式碼｜測試、Seed 與 Reset</a:t>
            </a:r>
            <a:endParaRPr/>
          </a:p>
        </p:txBody>
      </p:sp>
      <p:sp>
        <p:nvSpPr>
          <p:cNvPr id="223" name="Google Shape;223;h4a7c42c31eba908b_0_39"/>
          <p:cNvSpPr txBox="1"/>
          <p:nvPr/>
        </p:nvSpPr>
        <p:spPr>
          <a:xfrm>
            <a:off x="566928" y="6510528"/>
            <a:ext cx="1097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AAB2BC"/>
                </a:solidFill>
                <a:latin typeface="Noto Sans"/>
                <a:ea typeface="Noto Sans"/>
                <a:cs typeface="Noto Sans"/>
                <a:sym typeface="Noto Sans"/>
              </a:rPr>
              <a:t>LMS Lite · Functional Demo</a:t>
            </a:r>
            <a:endParaRPr/>
          </a:p>
        </p:txBody>
      </p:sp>
      <p:pic>
        <p:nvPicPr>
          <p:cNvPr id="224" name="Google Shape;224;h4a7c42c31eba908b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1950" y="845750"/>
            <a:ext cx="8097543" cy="566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C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5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F8BE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0" name="Google Shape;230;p15"/>
          <p:cNvSpPr txBox="1"/>
          <p:nvPr/>
        </p:nvSpPr>
        <p:spPr>
          <a:xfrm>
            <a:off x="566928" y="384048"/>
            <a:ext cx="108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C2A49"/>
                </a:solidFill>
                <a:latin typeface="Noto Sans"/>
                <a:ea typeface="Noto Sans"/>
                <a:cs typeface="Noto Sans"/>
                <a:sym typeface="Noto Sans"/>
              </a:rPr>
              <a:t>實際程式碼｜測試、Seed 與 Reset</a:t>
            </a:r>
            <a:endParaRPr/>
          </a:p>
        </p:txBody>
      </p:sp>
      <p:sp>
        <p:nvSpPr>
          <p:cNvPr id="231" name="Google Shape;231;p15"/>
          <p:cNvSpPr txBox="1"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AAB2BC"/>
                </a:solidFill>
                <a:latin typeface="Noto Sans"/>
                <a:ea typeface="Noto Sans"/>
                <a:cs typeface="Noto Sans"/>
                <a:sym typeface="Noto Sans"/>
              </a:rPr>
              <a:t>LMS Lite · Functional Demo</a:t>
            </a:r>
            <a:endParaRPr/>
          </a:p>
        </p:txBody>
      </p:sp>
      <p:pic>
        <p:nvPicPr>
          <p:cNvPr id="232" name="Google Shape;23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6600" y="900262"/>
            <a:ext cx="7281959" cy="555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C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h4a7c42c31eba908b_0_47"/>
          <p:cNvSpPr/>
          <p:nvPr/>
        </p:nvSpPr>
        <p:spPr>
          <a:xfrm>
            <a:off x="0" y="0"/>
            <a:ext cx="12192000" cy="50400"/>
          </a:xfrm>
          <a:prstGeom prst="rect">
            <a:avLst/>
          </a:prstGeom>
          <a:solidFill>
            <a:srgbClr val="F8BE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38" name="Google Shape;238;h4a7c42c31eba908b_0_47"/>
          <p:cNvSpPr txBox="1"/>
          <p:nvPr/>
        </p:nvSpPr>
        <p:spPr>
          <a:xfrm>
            <a:off x="566928" y="384048"/>
            <a:ext cx="108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C2A49"/>
                </a:solidFill>
                <a:latin typeface="Noto Sans"/>
                <a:ea typeface="Noto Sans"/>
                <a:cs typeface="Noto Sans"/>
                <a:sym typeface="Noto Sans"/>
              </a:rPr>
              <a:t>實際程式碼｜測試、Seed 與 Reset</a:t>
            </a:r>
            <a:endParaRPr/>
          </a:p>
        </p:txBody>
      </p:sp>
      <p:sp>
        <p:nvSpPr>
          <p:cNvPr id="239" name="Google Shape;239;h4a7c42c31eba908b_0_47"/>
          <p:cNvSpPr txBox="1"/>
          <p:nvPr/>
        </p:nvSpPr>
        <p:spPr>
          <a:xfrm>
            <a:off x="566928" y="6510528"/>
            <a:ext cx="1097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AAB2BC"/>
                </a:solidFill>
                <a:latin typeface="Noto Sans"/>
                <a:ea typeface="Noto Sans"/>
                <a:cs typeface="Noto Sans"/>
                <a:sym typeface="Noto Sans"/>
              </a:rPr>
              <a:t>LMS Lite · Functional Demo</a:t>
            </a:r>
            <a:endParaRPr/>
          </a:p>
        </p:txBody>
      </p:sp>
      <p:pic>
        <p:nvPicPr>
          <p:cNvPr id="240" name="Google Shape;240;h4a7c42c31eba908b_0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2838" y="898735"/>
            <a:ext cx="6269487" cy="555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C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h4a7c42c31eba908b_0_55"/>
          <p:cNvSpPr/>
          <p:nvPr/>
        </p:nvSpPr>
        <p:spPr>
          <a:xfrm>
            <a:off x="0" y="0"/>
            <a:ext cx="12192000" cy="50400"/>
          </a:xfrm>
          <a:prstGeom prst="rect">
            <a:avLst/>
          </a:prstGeom>
          <a:solidFill>
            <a:srgbClr val="F8BE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46" name="Google Shape;246;h4a7c42c31eba908b_0_55"/>
          <p:cNvSpPr txBox="1"/>
          <p:nvPr/>
        </p:nvSpPr>
        <p:spPr>
          <a:xfrm>
            <a:off x="566928" y="384048"/>
            <a:ext cx="108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C2A49"/>
                </a:solidFill>
                <a:latin typeface="Noto Sans"/>
                <a:ea typeface="Noto Sans"/>
                <a:cs typeface="Noto Sans"/>
                <a:sym typeface="Noto Sans"/>
              </a:rPr>
              <a:t>實際程式碼｜測試、Seed 與 Reset</a:t>
            </a:r>
            <a:endParaRPr/>
          </a:p>
        </p:txBody>
      </p:sp>
      <p:sp>
        <p:nvSpPr>
          <p:cNvPr id="247" name="Google Shape;247;h4a7c42c31eba908b_0_55"/>
          <p:cNvSpPr txBox="1"/>
          <p:nvPr/>
        </p:nvSpPr>
        <p:spPr>
          <a:xfrm>
            <a:off x="566928" y="6510528"/>
            <a:ext cx="1097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AAB2BC"/>
                </a:solidFill>
                <a:latin typeface="Noto Sans"/>
                <a:ea typeface="Noto Sans"/>
                <a:cs typeface="Noto Sans"/>
                <a:sym typeface="Noto Sans"/>
              </a:rPr>
              <a:t>LMS Lite · Functional Demo</a:t>
            </a:r>
            <a:endParaRPr/>
          </a:p>
        </p:txBody>
      </p:sp>
      <p:pic>
        <p:nvPicPr>
          <p:cNvPr id="248" name="Google Shape;248;h4a7c42c31eba908b_0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7027" y="898735"/>
            <a:ext cx="8621097" cy="555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C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6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F8BE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4" name="Google Shape;254;p16"/>
          <p:cNvSpPr txBox="1"/>
          <p:nvPr/>
        </p:nvSpPr>
        <p:spPr>
          <a:xfrm>
            <a:off x="566928" y="384048"/>
            <a:ext cx="108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C2A49"/>
                </a:solidFill>
                <a:latin typeface="Noto Sans"/>
                <a:ea typeface="Noto Sans"/>
                <a:cs typeface="Noto Sans"/>
                <a:sym typeface="Noto Sans"/>
              </a:rPr>
              <a:t>開發過程中遇到的難點｜角色與權限</a:t>
            </a:r>
            <a:endParaRPr/>
          </a:p>
        </p:txBody>
      </p:sp>
      <p:sp>
        <p:nvSpPr>
          <p:cNvPr id="255" name="Google Shape;255;p16"/>
          <p:cNvSpPr txBox="1"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AAB2BC"/>
                </a:solidFill>
                <a:latin typeface="Noto Sans"/>
                <a:ea typeface="Noto Sans"/>
                <a:cs typeface="Noto Sans"/>
                <a:sym typeface="Noto Sans"/>
              </a:rPr>
              <a:t>LMS Lite · Functional Demo</a:t>
            </a:r>
            <a:endParaRPr/>
          </a:p>
        </p:txBody>
      </p:sp>
      <p:sp>
        <p:nvSpPr>
          <p:cNvPr id="256" name="Google Shape;256;p16"/>
          <p:cNvSpPr/>
          <p:nvPr/>
        </p:nvSpPr>
        <p:spPr>
          <a:xfrm>
            <a:off x="640080" y="1325880"/>
            <a:ext cx="5349240" cy="4480560"/>
          </a:xfrm>
          <a:prstGeom prst="roundRect">
            <a:avLst>
              <a:gd fmla="val 16667" name="adj"/>
            </a:avLst>
          </a:prstGeom>
          <a:solidFill>
            <a:srgbClr val="FFF5EA"/>
          </a:solidFill>
          <a:ln cap="flat" cmpd="sng" w="12700">
            <a:solidFill>
              <a:srgbClr val="D7DD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01150" spcFirstLastPara="1" rIns="164575" wrap="square" tIns="20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F26B00"/>
                </a:solidFill>
                <a:latin typeface="Noto Sans"/>
                <a:ea typeface="Noto Sans"/>
                <a:cs typeface="Noto Sans"/>
                <a:sym typeface="Noto Sans"/>
              </a:rPr>
              <a:t>問題</a:t>
            </a:r>
            <a:endParaRPr sz="2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Applicant、Lab Staff、Admin 看的是同一套資料，但權限不同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展示時志願者可能暫時同時屬於 Applicant 與 LabStaff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如果只在前端隱藏按鈕，直接輸入 URL 仍可能看到別人的資料</a:t>
            </a:r>
            <a:endParaRPr sz="1500"/>
          </a:p>
        </p:txBody>
      </p:sp>
      <p:sp>
        <p:nvSpPr>
          <p:cNvPr id="257" name="Google Shape;257;p16"/>
          <p:cNvSpPr/>
          <p:nvPr/>
        </p:nvSpPr>
        <p:spPr>
          <a:xfrm>
            <a:off x="640080" y="1325880"/>
            <a:ext cx="5349240" cy="64008"/>
          </a:xfrm>
          <a:prstGeom prst="rect">
            <a:avLst/>
          </a:prstGeom>
          <a:solidFill>
            <a:srgbClr val="F26B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58" name="Google Shape;258;p16"/>
          <p:cNvSpPr/>
          <p:nvPr/>
        </p:nvSpPr>
        <p:spPr>
          <a:xfrm>
            <a:off x="6217920" y="1325880"/>
            <a:ext cx="5349240" cy="4480560"/>
          </a:xfrm>
          <a:prstGeom prst="roundRect">
            <a:avLst>
              <a:gd fmla="val 16667" name="adj"/>
            </a:avLst>
          </a:prstGeom>
          <a:solidFill>
            <a:srgbClr val="EDF5FC"/>
          </a:solidFill>
          <a:ln cap="flat" cmpd="sng" w="12700">
            <a:solidFill>
              <a:srgbClr val="D7DD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01150" spcFirstLastPara="1" rIns="164575" wrap="square" tIns="20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327ED6"/>
                </a:solidFill>
                <a:latin typeface="Noto Sans"/>
                <a:ea typeface="Noto Sans"/>
                <a:cs typeface="Noto Sans"/>
                <a:sym typeface="Noto Sans"/>
              </a:rPr>
              <a:t>解法</a:t>
            </a:r>
            <a:endParaRPr sz="2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角色判定集中處理，定義群組優先序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工作台權限用 mixin / decorator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資料存取再用 queryset 綁 user / assigned_staff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跨角色回 403；他人資料回 404，避免洩漏資料存在</a:t>
            </a:r>
            <a:endParaRPr sz="1500"/>
          </a:p>
        </p:txBody>
      </p:sp>
      <p:sp>
        <p:nvSpPr>
          <p:cNvPr id="259" name="Google Shape;259;p16"/>
          <p:cNvSpPr/>
          <p:nvPr/>
        </p:nvSpPr>
        <p:spPr>
          <a:xfrm>
            <a:off x="6217920" y="1325880"/>
            <a:ext cx="5349240" cy="64008"/>
          </a:xfrm>
          <a:prstGeom prst="rect">
            <a:avLst/>
          </a:prstGeom>
          <a:solidFill>
            <a:srgbClr val="327E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C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7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F8BE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5" name="Google Shape;265;p17"/>
          <p:cNvSpPr txBox="1"/>
          <p:nvPr/>
        </p:nvSpPr>
        <p:spPr>
          <a:xfrm>
            <a:off x="566928" y="384048"/>
            <a:ext cx="108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C2A49"/>
                </a:solidFill>
                <a:latin typeface="Noto Sans"/>
                <a:ea typeface="Noto Sans"/>
                <a:cs typeface="Noto Sans"/>
                <a:sym typeface="Noto Sans"/>
              </a:rPr>
              <a:t>開發過程中遇到的難點｜狀態一致性與展示資料</a:t>
            </a:r>
            <a:endParaRPr/>
          </a:p>
        </p:txBody>
      </p:sp>
      <p:sp>
        <p:nvSpPr>
          <p:cNvPr id="266" name="Google Shape;266;p17"/>
          <p:cNvSpPr txBox="1"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AAB2BC"/>
                </a:solidFill>
                <a:latin typeface="Noto Sans"/>
                <a:ea typeface="Noto Sans"/>
                <a:cs typeface="Noto Sans"/>
                <a:sym typeface="Noto Sans"/>
              </a:rPr>
              <a:t>LMS Lite · Functional Demo</a:t>
            </a:r>
            <a:endParaRPr/>
          </a:p>
        </p:txBody>
      </p:sp>
      <p:sp>
        <p:nvSpPr>
          <p:cNvPr id="267" name="Google Shape;267;p17"/>
          <p:cNvSpPr/>
          <p:nvPr/>
        </p:nvSpPr>
        <p:spPr>
          <a:xfrm>
            <a:off x="640080" y="1325880"/>
            <a:ext cx="5349240" cy="4480560"/>
          </a:xfrm>
          <a:prstGeom prst="roundRect">
            <a:avLst>
              <a:gd fmla="val 16667" name="adj"/>
            </a:avLst>
          </a:prstGeom>
          <a:solidFill>
            <a:srgbClr val="F4F1FF"/>
          </a:solidFill>
          <a:ln cap="flat" cmpd="sng" w="12700">
            <a:solidFill>
              <a:srgbClr val="D7DD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01150" spcFirstLastPara="1" rIns="164575" wrap="square" tIns="20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7052E0"/>
                </a:solidFill>
                <a:latin typeface="Noto Sans"/>
                <a:ea typeface="Noto Sans"/>
                <a:cs typeface="Noto Sans"/>
                <a:sym typeface="Noto Sans"/>
              </a:rPr>
              <a:t>狀態一致性</a:t>
            </a:r>
            <a:endParaRPr sz="2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Request 有完整狀態機，Schedule 不再另外存一套 status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開始 / 完成只寫 started_at、completed_at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所有狀態轉換集中到 service layer，避免不同 View 各自改狀態</a:t>
            </a:r>
            <a:endParaRPr sz="1500"/>
          </a:p>
        </p:txBody>
      </p:sp>
      <p:sp>
        <p:nvSpPr>
          <p:cNvPr id="268" name="Google Shape;268;p17"/>
          <p:cNvSpPr/>
          <p:nvPr/>
        </p:nvSpPr>
        <p:spPr>
          <a:xfrm>
            <a:off x="640080" y="1325880"/>
            <a:ext cx="5349240" cy="64008"/>
          </a:xfrm>
          <a:prstGeom prst="rect">
            <a:avLst/>
          </a:prstGeom>
          <a:solidFill>
            <a:srgbClr val="7052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69" name="Google Shape;269;p17"/>
          <p:cNvSpPr/>
          <p:nvPr/>
        </p:nvSpPr>
        <p:spPr>
          <a:xfrm>
            <a:off x="6217920" y="1325880"/>
            <a:ext cx="5349240" cy="4480560"/>
          </a:xfrm>
          <a:prstGeom prst="roundRect">
            <a:avLst>
              <a:gd fmla="val 16667" name="adj"/>
            </a:avLst>
          </a:prstGeom>
          <a:solidFill>
            <a:srgbClr val="EEF9F4"/>
          </a:solidFill>
          <a:ln cap="flat" cmpd="sng" w="12700">
            <a:solidFill>
              <a:srgbClr val="D7DD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01150" spcFirstLastPara="1" rIns="164575" wrap="square" tIns="20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2B9763"/>
                </a:solidFill>
                <a:latin typeface="Noto Sans"/>
                <a:ea typeface="Noto Sans"/>
                <a:cs typeface="Noto Sans"/>
                <a:sym typeface="Noto Sans"/>
              </a:rPr>
              <a:t>展示資料可重現</a:t>
            </a:r>
            <a:endParaRPr sz="25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Heroku 上的資料會被實際參與者操作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展示前需要固定帳號、固定主檔、固定各狀態申請單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reset_demo 清除資料後自動 seed，確保每次排練都回到同一個起點</a:t>
            </a:r>
            <a:endParaRPr sz="1500"/>
          </a:p>
        </p:txBody>
      </p:sp>
      <p:sp>
        <p:nvSpPr>
          <p:cNvPr id="270" name="Google Shape;270;p17"/>
          <p:cNvSpPr/>
          <p:nvPr/>
        </p:nvSpPr>
        <p:spPr>
          <a:xfrm>
            <a:off x="6217920" y="1325880"/>
            <a:ext cx="5349240" cy="64008"/>
          </a:xfrm>
          <a:prstGeom prst="rect">
            <a:avLst/>
          </a:prstGeom>
          <a:solidFill>
            <a:srgbClr val="2B97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C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8"/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F8BE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76" name="Google Shape;276;p18"/>
          <p:cNvSpPr txBox="1"/>
          <p:nvPr/>
        </p:nvSpPr>
        <p:spPr>
          <a:xfrm>
            <a:off x="566928" y="384048"/>
            <a:ext cx="108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C2A49"/>
                </a:solidFill>
                <a:latin typeface="Noto Sans"/>
                <a:ea typeface="Noto Sans"/>
                <a:cs typeface="Noto Sans"/>
                <a:sym typeface="Noto Sans"/>
              </a:rPr>
              <a:t>總結</a:t>
            </a:r>
            <a:endParaRPr/>
          </a:p>
        </p:txBody>
      </p:sp>
      <p:sp>
        <p:nvSpPr>
          <p:cNvPr id="277" name="Google Shape;277;p18"/>
          <p:cNvSpPr txBox="1"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AAB2BC"/>
                </a:solidFill>
                <a:latin typeface="Noto Sans"/>
                <a:ea typeface="Noto Sans"/>
                <a:cs typeface="Noto Sans"/>
                <a:sym typeface="Noto Sans"/>
              </a:rPr>
              <a:t>LMS Lite · Functional Demo</a:t>
            </a:r>
            <a:endParaRPr/>
          </a:p>
        </p:txBody>
      </p:sp>
      <p:sp>
        <p:nvSpPr>
          <p:cNvPr id="278" name="Google Shape;278;p18"/>
          <p:cNvSpPr/>
          <p:nvPr/>
        </p:nvSpPr>
        <p:spPr>
          <a:xfrm>
            <a:off x="731520" y="1417320"/>
            <a:ext cx="3383280" cy="4251960"/>
          </a:xfrm>
          <a:prstGeom prst="roundRect">
            <a:avLst>
              <a:gd fmla="val 16667" name="adj"/>
            </a:avLst>
          </a:prstGeom>
          <a:solidFill>
            <a:srgbClr val="EDF5FC"/>
          </a:solidFill>
          <a:ln cap="flat" cmpd="sng" w="12700">
            <a:solidFill>
              <a:srgbClr val="D7DD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01150" spcFirstLastPara="1" rIns="164575" wrap="square" tIns="20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27ED6"/>
                </a:solidFill>
                <a:latin typeface="Noto Sans"/>
                <a:ea typeface="Noto Sans"/>
                <a:cs typeface="Noto Sans"/>
                <a:sym typeface="Noto Sans"/>
              </a:rPr>
              <a:t>功能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申請、退回、受理、排程、實驗、發布、查詢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三種身份工作台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歷史申請與狀態時間軸</a:t>
            </a:r>
            <a:endParaRPr sz="1500"/>
          </a:p>
        </p:txBody>
      </p:sp>
      <p:sp>
        <p:nvSpPr>
          <p:cNvPr id="279" name="Google Shape;279;p18"/>
          <p:cNvSpPr/>
          <p:nvPr/>
        </p:nvSpPr>
        <p:spPr>
          <a:xfrm>
            <a:off x="731520" y="1417320"/>
            <a:ext cx="3383280" cy="64008"/>
          </a:xfrm>
          <a:prstGeom prst="rect">
            <a:avLst/>
          </a:prstGeom>
          <a:solidFill>
            <a:srgbClr val="327E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0" name="Google Shape;280;p18"/>
          <p:cNvSpPr/>
          <p:nvPr/>
        </p:nvSpPr>
        <p:spPr>
          <a:xfrm>
            <a:off x="4407408" y="1417320"/>
            <a:ext cx="3383280" cy="4251960"/>
          </a:xfrm>
          <a:prstGeom prst="roundRect">
            <a:avLst>
              <a:gd fmla="val 16667" name="adj"/>
            </a:avLst>
          </a:prstGeom>
          <a:solidFill>
            <a:srgbClr val="F4F1FF"/>
          </a:solidFill>
          <a:ln cap="flat" cmpd="sng" w="12700">
            <a:solidFill>
              <a:srgbClr val="D7DD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01150" spcFirstLastPara="1" rIns="164575" wrap="square" tIns="20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7052E0"/>
                </a:solidFill>
                <a:latin typeface="Noto Sans"/>
                <a:ea typeface="Noto Sans"/>
                <a:cs typeface="Noto Sans"/>
                <a:sym typeface="Noto Sans"/>
              </a:rPr>
              <a:t>程式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Django auth + Groups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Service layer 狀態機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RequestStatusLog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PostgreSQL / Heroku</a:t>
            </a:r>
            <a:endParaRPr sz="1500"/>
          </a:p>
        </p:txBody>
      </p:sp>
      <p:sp>
        <p:nvSpPr>
          <p:cNvPr id="281" name="Google Shape;281;p18"/>
          <p:cNvSpPr/>
          <p:nvPr/>
        </p:nvSpPr>
        <p:spPr>
          <a:xfrm>
            <a:off x="4407408" y="1417320"/>
            <a:ext cx="3383280" cy="64008"/>
          </a:xfrm>
          <a:prstGeom prst="rect">
            <a:avLst/>
          </a:prstGeom>
          <a:solidFill>
            <a:srgbClr val="7052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8092440" y="1417320"/>
            <a:ext cx="3383280" cy="4251960"/>
          </a:xfrm>
          <a:prstGeom prst="roundRect">
            <a:avLst>
              <a:gd fmla="val 16667" name="adj"/>
            </a:avLst>
          </a:prstGeom>
          <a:solidFill>
            <a:srgbClr val="EEF9F4"/>
          </a:solidFill>
          <a:ln cap="flat" cmpd="sng" w="12700">
            <a:solidFill>
              <a:srgbClr val="D7DDE4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201150" spcFirstLastPara="1" rIns="164575" wrap="square" tIns="201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2B9763"/>
                </a:solidFill>
                <a:latin typeface="Noto Sans"/>
                <a:ea typeface="Noto Sans"/>
                <a:cs typeface="Noto Sans"/>
                <a:sym typeface="Noto Sans"/>
              </a:rPr>
              <a:t>品質與展示</a:t>
            </a:r>
            <a:endParaRPr sz="2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3303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Django TestCase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seed_demo / reset_demo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權限 403 / 404</a:t>
            </a:r>
            <a:endParaRPr sz="1500"/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3303F"/>
              </a:buClr>
              <a:buSzPts val="1500"/>
              <a:buFont typeface="Noto Sans"/>
              <a:buChar char="●"/>
            </a:pPr>
            <a:r>
              <a:rPr lang="en-US" sz="1500">
                <a:solidFill>
                  <a:srgbClr val="23303F"/>
                </a:solidFill>
                <a:latin typeface="Noto Sans"/>
                <a:ea typeface="Noto Sans"/>
                <a:cs typeface="Noto Sans"/>
                <a:sym typeface="Noto Sans"/>
              </a:rPr>
              <a:t>可重複演練</a:t>
            </a:r>
            <a:endParaRPr sz="1500"/>
          </a:p>
        </p:txBody>
      </p:sp>
      <p:sp>
        <p:nvSpPr>
          <p:cNvPr id="283" name="Google Shape;283;p18"/>
          <p:cNvSpPr/>
          <p:nvPr/>
        </p:nvSpPr>
        <p:spPr>
          <a:xfrm>
            <a:off x="8092440" y="1417320"/>
            <a:ext cx="3383280" cy="64008"/>
          </a:xfrm>
          <a:prstGeom prst="rect">
            <a:avLst/>
          </a:prstGeom>
          <a:solidFill>
            <a:srgbClr val="2B97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03A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9"/>
          <p:cNvSpPr txBox="1"/>
          <p:nvPr/>
        </p:nvSpPr>
        <p:spPr>
          <a:xfrm>
            <a:off x="566928" y="384048"/>
            <a:ext cx="108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Q&amp;A</a:t>
            </a:r>
            <a:endParaRPr/>
          </a:p>
        </p:txBody>
      </p:sp>
      <p:sp>
        <p:nvSpPr>
          <p:cNvPr id="289" name="Google Shape;289;p19"/>
          <p:cNvSpPr txBox="1"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91A4BA"/>
                </a:solidFill>
                <a:latin typeface="Noto Sans"/>
                <a:ea typeface="Noto Sans"/>
                <a:cs typeface="Noto Sans"/>
                <a:sym typeface="Noto Sans"/>
              </a:rPr>
              <a:t>LMS Lite · Functional Demo</a:t>
            </a:r>
            <a:endParaRPr/>
          </a:p>
        </p:txBody>
      </p:sp>
      <p:sp>
        <p:nvSpPr>
          <p:cNvPr id="290" name="Google Shape;290;p19"/>
          <p:cNvSpPr txBox="1"/>
          <p:nvPr/>
        </p:nvSpPr>
        <p:spPr>
          <a:xfrm>
            <a:off x="3630082" y="2848645"/>
            <a:ext cx="4755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8BE25"/>
                </a:solidFill>
                <a:latin typeface="Noto Sans"/>
                <a:ea typeface="Noto Sans"/>
                <a:cs typeface="Noto Sans"/>
                <a:sym typeface="Noto Sans"/>
              </a:rPr>
              <a:t>歡迎提問</a:t>
            </a:r>
            <a:endParaRPr/>
          </a:p>
        </p:txBody>
      </p:sp>
      <p:sp>
        <p:nvSpPr>
          <p:cNvPr id="291" name="Google Shape;291;p19"/>
          <p:cNvSpPr/>
          <p:nvPr/>
        </p:nvSpPr>
        <p:spPr>
          <a:xfrm>
            <a:off x="9875520" y="365760"/>
            <a:ext cx="2011680" cy="2011680"/>
          </a:xfrm>
          <a:prstGeom prst="ellipse">
            <a:avLst/>
          </a:prstGeom>
          <a:solidFill>
            <a:srgbClr val="1249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292" name="Google Shape;292;p19"/>
          <p:cNvSpPr/>
          <p:nvPr/>
        </p:nvSpPr>
        <p:spPr>
          <a:xfrm>
            <a:off x="10698480" y="5029200"/>
            <a:ext cx="2194560" cy="2194560"/>
          </a:xfrm>
          <a:prstGeom prst="ellipse">
            <a:avLst/>
          </a:prstGeom>
          <a:solidFill>
            <a:srgbClr val="5239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03A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0"/>
          <p:cNvSpPr txBox="1"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91A4BA"/>
                </a:solidFill>
                <a:latin typeface="Noto Sans"/>
                <a:ea typeface="Noto Sans"/>
                <a:cs typeface="Noto Sans"/>
                <a:sym typeface="Noto Sans"/>
              </a:rPr>
              <a:t>LMS Lite · Functional Demo</a:t>
            </a:r>
            <a:endParaRPr/>
          </a:p>
        </p:txBody>
      </p:sp>
      <p:sp>
        <p:nvSpPr>
          <p:cNvPr id="298" name="Google Shape;298;p20"/>
          <p:cNvSpPr txBox="1"/>
          <p:nvPr/>
        </p:nvSpPr>
        <p:spPr>
          <a:xfrm>
            <a:off x="731520" y="182880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Thank You</a:t>
            </a:r>
            <a:endParaRPr/>
          </a:p>
        </p:txBody>
      </p:sp>
      <p:sp>
        <p:nvSpPr>
          <p:cNvPr id="299" name="Google Shape;299;p20"/>
          <p:cNvSpPr txBox="1"/>
          <p:nvPr/>
        </p:nvSpPr>
        <p:spPr>
          <a:xfrm>
            <a:off x="731520" y="2788920"/>
            <a:ext cx="6217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從申請到結果，讓每一步都能被看見。</a:t>
            </a:r>
            <a:endParaRPr/>
          </a:p>
        </p:txBody>
      </p:sp>
      <p:sp>
        <p:nvSpPr>
          <p:cNvPr id="300" name="Google Shape;300;p20"/>
          <p:cNvSpPr txBox="1"/>
          <p:nvPr/>
        </p:nvSpPr>
        <p:spPr>
          <a:xfrm>
            <a:off x="777240" y="50749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BECDDF"/>
                </a:solidFill>
                <a:latin typeface="Noto Sans"/>
                <a:ea typeface="Noto Sans"/>
                <a:cs typeface="Noto Sans"/>
                <a:sym typeface="Noto Sans"/>
              </a:rPr>
              <a:t>2026/10/17</a:t>
            </a:r>
            <a:endParaRPr/>
          </a:p>
        </p:txBody>
      </p:sp>
      <p:sp>
        <p:nvSpPr>
          <p:cNvPr id="301" name="Google Shape;301;p20"/>
          <p:cNvSpPr/>
          <p:nvPr/>
        </p:nvSpPr>
        <p:spPr>
          <a:xfrm>
            <a:off x="9692640" y="548640"/>
            <a:ext cx="2286000" cy="2286000"/>
          </a:xfrm>
          <a:prstGeom prst="ellipse">
            <a:avLst/>
          </a:prstGeom>
          <a:solidFill>
            <a:srgbClr val="12498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02" name="Google Shape;302;p20"/>
          <p:cNvSpPr/>
          <p:nvPr/>
        </p:nvSpPr>
        <p:spPr>
          <a:xfrm>
            <a:off x="10332720" y="4663440"/>
            <a:ext cx="2560320" cy="2560320"/>
          </a:xfrm>
          <a:prstGeom prst="ellipse">
            <a:avLst/>
          </a:prstGeom>
          <a:solidFill>
            <a:srgbClr val="52393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2026-10-11T14:07:37Z</dcterms:created>
</cp:coreProperties>
</file>